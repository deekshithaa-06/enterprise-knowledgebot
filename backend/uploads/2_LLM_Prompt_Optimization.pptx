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I'll walk you through my proposed concept: an LLM-based Prompt Optimization tool. The goal is to solve a real problem we face daily with AI tools — inconsistent output quality due to poor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structure of today's presentation. We move from foundational knowledge about LLMs and prompting, to the core problem, and then to the solution we're proposing.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LLM is the AI engine underneath tools like ChatGPT or Claude. It was trained on enormous amounts of text and learns to predict the best response given an input. Understanding this foundation is key to appreciating why prompts matter so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Prompting is the only way a user communicates intent to an LLM. It controls everything — the tone, the depth, the format. This makes it the most critical variable in the quality of AI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and real-world data shows that 70–80% of users write incomplete or poorly structured prompts. The result: inconsistent outputs, extra rework, and reduced trust in AI tools. This is the core problem our tool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effective prompt is not just a sentence — it's a structured input. When users learn to include all five elements, output quality dramatically improves. Our tool automates this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Optimizer sits between the user and the LLM. It acts as an intelligent translator — turning vague inputs into rich, well-structured prompts. Users get better results without needing to learn prompt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5 distinct layers. What makes it smart is layers 2 and 3 — the analysis engine detects gaps, and the optimization LLM fills them. This is not just a template filler; it genuinely understands prompt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capabilities are what differentiate this from a simple template system. It understands, adapts, learns, and scores — making it a genuinely intelligent layer rather than a rigid rule-based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use cases represent real workflows in our organization. Each one shows how a vague raw prompt gets transformed into a structured, high-quality prompt — and why the output difference is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side-by-side comparison is the core of our demo. The raw prompt produces a generic, low-quality response. The optimized prompt — rewritten automatically — produces a professional, complete response ready to send with no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estimates are based on industry benchmarks for prompt optimization tools. Our focus is on reducing rework and improving consistency — two things that directly impact team efficiency and AI adoption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13-week plan is intentionally phased to allow validation before full rollout. Phase 3 is critical — real pilot feedback shapes the final product before we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we have a clear problem, a technically well-defined solution, and a realistic delivery plan. I'm asking for approval to begin Phase 1. I'm confident this tool will meaningfully improve our AI output quality across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00BCD4"/>
          </a:solidFill>
          <a:ln/>
        </p:spPr>
      </p:sp>
      <p:sp>
        <p:nvSpPr>
          <p:cNvPr id="4" name="Shape 2"/>
          <p:cNvSpPr/>
          <p:nvPr/>
        </p:nvSpPr>
        <p:spPr>
          <a:xfrm>
            <a:off x="6858000" y="457200"/>
            <a:ext cx="3200400" cy="3200400"/>
          </a:xfrm>
          <a:prstGeom prst="ellipse">
            <a:avLst/>
          </a:prstGeom>
          <a:solidFill>
            <a:srgbClr val="1565C0">
              <a:alpha val="25000"/>
            </a:srgbClr>
          </a:solidFill>
          <a:ln/>
        </p:spPr>
      </p:sp>
      <p:sp>
        <p:nvSpPr>
          <p:cNvPr id="5" name="Shape 3"/>
          <p:cNvSpPr/>
          <p:nvPr/>
        </p:nvSpPr>
        <p:spPr>
          <a:xfrm>
            <a:off x="7498080" y="1097280"/>
            <a:ext cx="1828800" cy="1828800"/>
          </a:xfrm>
          <a:prstGeom prst="ellipse">
            <a:avLst/>
          </a:prstGeom>
          <a:solidFill>
            <a:srgbClr val="00BCD4">
              <a:alpha val="30000"/>
            </a:srgbClr>
          </a:solidFill>
          <a:ln/>
        </p:spPr>
      </p:sp>
      <p:pic>
        <p:nvPicPr>
          <p:cNvPr id="6" name="Image 0" descr="preencoded.png">    </p:cNvPr>
          <p:cNvPicPr>
            <a:picLocks noChangeAspect="1"/>
          </p:cNvPicPr>
          <p:nvPr/>
        </p:nvPicPr>
        <p:blipFill>
          <a:blip r:embed="rId1"/>
          <a:stretch>
            <a:fillRect/>
          </a:stretch>
        </p:blipFill>
        <p:spPr>
          <a:xfrm>
            <a:off x="502920" y="914400"/>
            <a:ext cx="731520" cy="731520"/>
          </a:xfrm>
          <a:prstGeom prst="rect">
            <a:avLst/>
          </a:prstGeom>
        </p:spPr>
      </p:pic>
      <p:sp>
        <p:nvSpPr>
          <p:cNvPr id="7" name="Text 4"/>
          <p:cNvSpPr/>
          <p:nvPr/>
        </p:nvSpPr>
        <p:spPr>
          <a:xfrm>
            <a:off x="457200" y="1691640"/>
            <a:ext cx="6400800" cy="10972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LLM-Based Prompt Optimization</a:t>
            </a:r>
            <a:endParaRPr lang="en-US" sz="3800" dirty="0"/>
          </a:p>
        </p:txBody>
      </p:sp>
      <p:sp>
        <p:nvSpPr>
          <p:cNvPr id="8" name="Text 5"/>
          <p:cNvSpPr/>
          <p:nvPr/>
        </p:nvSpPr>
        <p:spPr>
          <a:xfrm>
            <a:off x="457200" y="2834640"/>
            <a:ext cx="6858000" cy="822960"/>
          </a:xfrm>
          <a:prstGeom prst="rect">
            <a:avLst/>
          </a:prstGeom>
          <a:noFill/>
          <a:ln/>
        </p:spPr>
        <p:txBody>
          <a:bodyPr wrap="square" lIns="0" tIns="0" rIns="0" bIns="0" rtlCol="0" anchor="ctr"/>
          <a:lstStyle/>
          <a:p>
            <a:pPr indent="0" marL="0">
              <a:buNone/>
            </a:pPr>
            <a:r>
              <a:rPr lang="en-US" sz="1500" i="1" dirty="0">
                <a:solidFill>
                  <a:srgbClr val="00BCD4"/>
                </a:solidFill>
                <a:latin typeface="Calibri" pitchFamily="34" charset="0"/>
                <a:ea typeface="Calibri" pitchFamily="34" charset="-122"/>
                <a:cs typeface="Calibri" pitchFamily="34" charset="-120"/>
              </a:rPr>
              <a:t>A Smart System for Refining Prompts to Deliver</a:t>
            </a:r>
            <a:endParaRPr lang="en-US" sz="1500" dirty="0"/>
          </a:p>
          <a:p>
            <a:pPr indent="0" marL="0">
              <a:buNone/>
            </a:pPr>
            <a:r>
              <a:rPr lang="en-US" sz="1500" i="1" dirty="0">
                <a:solidFill>
                  <a:srgbClr val="00BCD4"/>
                </a:solidFill>
                <a:latin typeface="Calibri" pitchFamily="34" charset="0"/>
                <a:ea typeface="Calibri" pitchFamily="34" charset="-122"/>
                <a:cs typeface="Calibri" pitchFamily="34" charset="-120"/>
              </a:rPr>
              <a:t>Accurate, Consistent &amp; Contextually Relevant AI Outputs</a:t>
            </a:r>
            <a:endParaRPr lang="en-US" sz="1500" dirty="0"/>
          </a:p>
        </p:txBody>
      </p:sp>
      <p:sp>
        <p:nvSpPr>
          <p:cNvPr id="9" name="Text 6"/>
          <p:cNvSpPr/>
          <p:nvPr/>
        </p:nvSpPr>
        <p:spPr>
          <a:xfrm>
            <a:off x="457200" y="4389120"/>
            <a:ext cx="8229600" cy="320040"/>
          </a:xfrm>
          <a:prstGeom prst="rect">
            <a:avLst/>
          </a:prstGeom>
          <a:noFill/>
          <a:ln/>
        </p:spPr>
        <p:txBody>
          <a:bodyPr wrap="square" lIns="0" tIns="0" rIns="0" bIns="0" rtlCol="0" anchor="ctr"/>
          <a:lstStyle/>
          <a:p>
            <a:pPr indent="0" marL="0">
              <a:buNone/>
            </a:pPr>
            <a:r>
              <a:rPr lang="en-US" sz="1100" dirty="0">
                <a:solidFill>
                  <a:srgbClr val="7B9DB4"/>
                </a:solidFill>
                <a:latin typeface="Calibri" pitchFamily="34" charset="0"/>
                <a:ea typeface="Calibri" pitchFamily="34" charset="-122"/>
                <a:cs typeface="Calibri" pitchFamily="34" charset="-120"/>
              </a:rPr>
              <a:t>Presented to: Management Review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565C0"/>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Agenda</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300" i="1" dirty="0">
                <a:solidFill>
                  <a:srgbClr val="546E7A"/>
                </a:solidFill>
                <a:latin typeface="Calibri" pitchFamily="34" charset="0"/>
                <a:ea typeface="Calibri" pitchFamily="34" charset="-122"/>
                <a:cs typeface="Calibri" pitchFamily="34" charset="-120"/>
              </a:rPr>
              <a:t>What we'll cover today</a:t>
            </a:r>
            <a:endParaRPr lang="en-US" sz="1300" dirty="0"/>
          </a:p>
        </p:txBody>
      </p:sp>
      <p:sp>
        <p:nvSpPr>
          <p:cNvPr id="5" name="Shape 3"/>
          <p:cNvSpPr/>
          <p:nvPr/>
        </p:nvSpPr>
        <p:spPr>
          <a:xfrm>
            <a:off x="320040" y="105156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320040" y="1051560"/>
            <a:ext cx="475488" cy="530352"/>
          </a:xfrm>
          <a:prstGeom prst="roundRect">
            <a:avLst>
              <a:gd name="adj" fmla="val 13462"/>
            </a:avLst>
          </a:prstGeom>
          <a:solidFill>
            <a:srgbClr val="1565C0"/>
          </a:solidFill>
          <a:ln/>
        </p:spPr>
      </p:sp>
      <p:sp>
        <p:nvSpPr>
          <p:cNvPr id="7" name="Text 5"/>
          <p:cNvSpPr/>
          <p:nvPr/>
        </p:nvSpPr>
        <p:spPr>
          <a:xfrm>
            <a:off x="320040" y="105156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886968" y="107899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What is an LLM?</a:t>
            </a:r>
            <a:endParaRPr lang="en-US" sz="1300" dirty="0"/>
          </a:p>
        </p:txBody>
      </p:sp>
      <p:sp>
        <p:nvSpPr>
          <p:cNvPr id="9" name="Text 7"/>
          <p:cNvSpPr/>
          <p:nvPr/>
        </p:nvSpPr>
        <p:spPr>
          <a:xfrm>
            <a:off x="886968" y="132588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Foundation concepts</a:t>
            </a:r>
            <a:endParaRPr lang="en-US" sz="1000" dirty="0"/>
          </a:p>
        </p:txBody>
      </p:sp>
      <p:sp>
        <p:nvSpPr>
          <p:cNvPr id="10" name="Shape 8"/>
          <p:cNvSpPr/>
          <p:nvPr/>
        </p:nvSpPr>
        <p:spPr>
          <a:xfrm>
            <a:off x="320040" y="169164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320040" y="1691640"/>
            <a:ext cx="475488" cy="530352"/>
          </a:xfrm>
          <a:prstGeom prst="roundRect">
            <a:avLst>
              <a:gd name="adj" fmla="val 13462"/>
            </a:avLst>
          </a:prstGeom>
          <a:solidFill>
            <a:srgbClr val="1565C0"/>
          </a:solidFill>
          <a:ln/>
        </p:spPr>
      </p:sp>
      <p:sp>
        <p:nvSpPr>
          <p:cNvPr id="12" name="Text 10"/>
          <p:cNvSpPr/>
          <p:nvPr/>
        </p:nvSpPr>
        <p:spPr>
          <a:xfrm>
            <a:off x="320040" y="169164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886968" y="171907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The Role of Prompting</a:t>
            </a:r>
            <a:endParaRPr lang="en-US" sz="1300" dirty="0"/>
          </a:p>
        </p:txBody>
      </p:sp>
      <p:sp>
        <p:nvSpPr>
          <p:cNvPr id="14" name="Text 12"/>
          <p:cNvSpPr/>
          <p:nvPr/>
        </p:nvSpPr>
        <p:spPr>
          <a:xfrm>
            <a:off x="886968" y="196596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How input shapes output</a:t>
            </a:r>
            <a:endParaRPr lang="en-US" sz="1000" dirty="0"/>
          </a:p>
        </p:txBody>
      </p:sp>
      <p:sp>
        <p:nvSpPr>
          <p:cNvPr id="15" name="Shape 13"/>
          <p:cNvSpPr/>
          <p:nvPr/>
        </p:nvSpPr>
        <p:spPr>
          <a:xfrm>
            <a:off x="320040" y="233172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16" name="Shape 14"/>
          <p:cNvSpPr/>
          <p:nvPr/>
        </p:nvSpPr>
        <p:spPr>
          <a:xfrm>
            <a:off x="320040" y="2331720"/>
            <a:ext cx="475488" cy="530352"/>
          </a:xfrm>
          <a:prstGeom prst="roundRect">
            <a:avLst>
              <a:gd name="adj" fmla="val 13462"/>
            </a:avLst>
          </a:prstGeom>
          <a:solidFill>
            <a:srgbClr val="1565C0"/>
          </a:solidFill>
          <a:ln/>
        </p:spPr>
      </p:sp>
      <p:sp>
        <p:nvSpPr>
          <p:cNvPr id="17" name="Text 15"/>
          <p:cNvSpPr/>
          <p:nvPr/>
        </p:nvSpPr>
        <p:spPr>
          <a:xfrm>
            <a:off x="320040" y="233172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886968" y="235915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The Problem with Regular Prompting</a:t>
            </a:r>
            <a:endParaRPr lang="en-US" sz="1300" dirty="0"/>
          </a:p>
        </p:txBody>
      </p:sp>
      <p:sp>
        <p:nvSpPr>
          <p:cNvPr id="19" name="Text 17"/>
          <p:cNvSpPr/>
          <p:nvPr/>
        </p:nvSpPr>
        <p:spPr>
          <a:xfrm>
            <a:off x="886968" y="260604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Why outputs fail</a:t>
            </a:r>
            <a:endParaRPr lang="en-US" sz="1000" dirty="0"/>
          </a:p>
        </p:txBody>
      </p:sp>
      <p:sp>
        <p:nvSpPr>
          <p:cNvPr id="20" name="Shape 18"/>
          <p:cNvSpPr/>
          <p:nvPr/>
        </p:nvSpPr>
        <p:spPr>
          <a:xfrm>
            <a:off x="320040" y="297180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21" name="Shape 19"/>
          <p:cNvSpPr/>
          <p:nvPr/>
        </p:nvSpPr>
        <p:spPr>
          <a:xfrm>
            <a:off x="320040" y="2971800"/>
            <a:ext cx="475488" cy="530352"/>
          </a:xfrm>
          <a:prstGeom prst="roundRect">
            <a:avLst>
              <a:gd name="adj" fmla="val 13462"/>
            </a:avLst>
          </a:prstGeom>
          <a:solidFill>
            <a:srgbClr val="1565C0"/>
          </a:solidFill>
          <a:ln/>
        </p:spPr>
      </p:sp>
      <p:sp>
        <p:nvSpPr>
          <p:cNvPr id="22" name="Text 20"/>
          <p:cNvSpPr/>
          <p:nvPr/>
        </p:nvSpPr>
        <p:spPr>
          <a:xfrm>
            <a:off x="320040" y="297180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3" name="Text 21"/>
          <p:cNvSpPr/>
          <p:nvPr/>
        </p:nvSpPr>
        <p:spPr>
          <a:xfrm>
            <a:off x="886968" y="299923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What is Effective Prompting?</a:t>
            </a:r>
            <a:endParaRPr lang="en-US" sz="1300" dirty="0"/>
          </a:p>
        </p:txBody>
      </p:sp>
      <p:sp>
        <p:nvSpPr>
          <p:cNvPr id="24" name="Text 22"/>
          <p:cNvSpPr/>
          <p:nvPr/>
        </p:nvSpPr>
        <p:spPr>
          <a:xfrm>
            <a:off x="886968" y="324612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Principles &amp; techniques</a:t>
            </a:r>
            <a:endParaRPr lang="en-US" sz="1000" dirty="0"/>
          </a:p>
        </p:txBody>
      </p:sp>
      <p:sp>
        <p:nvSpPr>
          <p:cNvPr id="25" name="Shape 23"/>
          <p:cNvSpPr/>
          <p:nvPr/>
        </p:nvSpPr>
        <p:spPr>
          <a:xfrm>
            <a:off x="320040" y="361188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26" name="Shape 24"/>
          <p:cNvSpPr/>
          <p:nvPr/>
        </p:nvSpPr>
        <p:spPr>
          <a:xfrm>
            <a:off x="320040" y="3611880"/>
            <a:ext cx="475488" cy="530352"/>
          </a:xfrm>
          <a:prstGeom prst="roundRect">
            <a:avLst>
              <a:gd name="adj" fmla="val 13462"/>
            </a:avLst>
          </a:prstGeom>
          <a:solidFill>
            <a:srgbClr val="1565C0"/>
          </a:solidFill>
          <a:ln/>
        </p:spPr>
      </p:sp>
      <p:sp>
        <p:nvSpPr>
          <p:cNvPr id="27" name="Text 25"/>
          <p:cNvSpPr/>
          <p:nvPr/>
        </p:nvSpPr>
        <p:spPr>
          <a:xfrm>
            <a:off x="320040" y="361188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8" name="Text 26"/>
          <p:cNvSpPr/>
          <p:nvPr/>
        </p:nvSpPr>
        <p:spPr>
          <a:xfrm>
            <a:off x="886968" y="363931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Introducing Prompt Optimization</a:t>
            </a:r>
            <a:endParaRPr lang="en-US" sz="1300" dirty="0"/>
          </a:p>
        </p:txBody>
      </p:sp>
      <p:sp>
        <p:nvSpPr>
          <p:cNvPr id="29" name="Text 27"/>
          <p:cNvSpPr/>
          <p:nvPr/>
        </p:nvSpPr>
        <p:spPr>
          <a:xfrm>
            <a:off x="886968" y="388620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The smart layer</a:t>
            </a:r>
            <a:endParaRPr lang="en-US" sz="1000" dirty="0"/>
          </a:p>
        </p:txBody>
      </p:sp>
      <p:sp>
        <p:nvSpPr>
          <p:cNvPr id="30" name="Shape 28"/>
          <p:cNvSpPr/>
          <p:nvPr/>
        </p:nvSpPr>
        <p:spPr>
          <a:xfrm>
            <a:off x="320040" y="425196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31" name="Shape 29"/>
          <p:cNvSpPr/>
          <p:nvPr/>
        </p:nvSpPr>
        <p:spPr>
          <a:xfrm>
            <a:off x="320040" y="4251960"/>
            <a:ext cx="475488" cy="530352"/>
          </a:xfrm>
          <a:prstGeom prst="roundRect">
            <a:avLst>
              <a:gd name="adj" fmla="val 13462"/>
            </a:avLst>
          </a:prstGeom>
          <a:solidFill>
            <a:srgbClr val="1565C0"/>
          </a:solidFill>
          <a:ln/>
        </p:spPr>
      </p:sp>
      <p:sp>
        <p:nvSpPr>
          <p:cNvPr id="32" name="Text 30"/>
          <p:cNvSpPr/>
          <p:nvPr/>
        </p:nvSpPr>
        <p:spPr>
          <a:xfrm>
            <a:off x="320040" y="425196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3" name="Text 31"/>
          <p:cNvSpPr/>
          <p:nvPr/>
        </p:nvSpPr>
        <p:spPr>
          <a:xfrm>
            <a:off x="886968" y="427939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System Architecture</a:t>
            </a:r>
            <a:endParaRPr lang="en-US" sz="1300" dirty="0"/>
          </a:p>
        </p:txBody>
      </p:sp>
      <p:sp>
        <p:nvSpPr>
          <p:cNvPr id="34" name="Text 32"/>
          <p:cNvSpPr/>
          <p:nvPr/>
        </p:nvSpPr>
        <p:spPr>
          <a:xfrm>
            <a:off x="886968" y="452628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How it works technically</a:t>
            </a:r>
            <a:endParaRPr lang="en-US" sz="1000" dirty="0"/>
          </a:p>
        </p:txBody>
      </p:sp>
      <p:sp>
        <p:nvSpPr>
          <p:cNvPr id="35" name="Shape 33"/>
          <p:cNvSpPr/>
          <p:nvPr/>
        </p:nvSpPr>
        <p:spPr>
          <a:xfrm>
            <a:off x="4892040" y="105156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36" name="Shape 34"/>
          <p:cNvSpPr/>
          <p:nvPr/>
        </p:nvSpPr>
        <p:spPr>
          <a:xfrm>
            <a:off x="4892040" y="1051560"/>
            <a:ext cx="475488" cy="530352"/>
          </a:xfrm>
          <a:prstGeom prst="roundRect">
            <a:avLst>
              <a:gd name="adj" fmla="val 13462"/>
            </a:avLst>
          </a:prstGeom>
          <a:solidFill>
            <a:srgbClr val="1565C0"/>
          </a:solidFill>
          <a:ln/>
        </p:spPr>
      </p:sp>
      <p:sp>
        <p:nvSpPr>
          <p:cNvPr id="37" name="Text 35"/>
          <p:cNvSpPr/>
          <p:nvPr/>
        </p:nvSpPr>
        <p:spPr>
          <a:xfrm>
            <a:off x="4892040" y="105156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8" name="Text 36"/>
          <p:cNvSpPr/>
          <p:nvPr/>
        </p:nvSpPr>
        <p:spPr>
          <a:xfrm>
            <a:off x="5458968" y="107899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The 'Smart' Factor</a:t>
            </a:r>
            <a:endParaRPr lang="en-US" sz="1300" dirty="0"/>
          </a:p>
        </p:txBody>
      </p:sp>
      <p:sp>
        <p:nvSpPr>
          <p:cNvPr id="39" name="Text 37"/>
          <p:cNvSpPr/>
          <p:nvPr/>
        </p:nvSpPr>
        <p:spPr>
          <a:xfrm>
            <a:off x="5458968" y="132588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What makes it intelligent</a:t>
            </a:r>
            <a:endParaRPr lang="en-US" sz="1000" dirty="0"/>
          </a:p>
        </p:txBody>
      </p:sp>
      <p:sp>
        <p:nvSpPr>
          <p:cNvPr id="40" name="Shape 38"/>
          <p:cNvSpPr/>
          <p:nvPr/>
        </p:nvSpPr>
        <p:spPr>
          <a:xfrm>
            <a:off x="4892040" y="169164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41" name="Shape 39"/>
          <p:cNvSpPr/>
          <p:nvPr/>
        </p:nvSpPr>
        <p:spPr>
          <a:xfrm>
            <a:off x="4892040" y="1691640"/>
            <a:ext cx="475488" cy="530352"/>
          </a:xfrm>
          <a:prstGeom prst="roundRect">
            <a:avLst>
              <a:gd name="adj" fmla="val 13462"/>
            </a:avLst>
          </a:prstGeom>
          <a:solidFill>
            <a:srgbClr val="1565C0"/>
          </a:solidFill>
          <a:ln/>
        </p:spPr>
      </p:sp>
      <p:sp>
        <p:nvSpPr>
          <p:cNvPr id="42" name="Text 40"/>
          <p:cNvSpPr/>
          <p:nvPr/>
        </p:nvSpPr>
        <p:spPr>
          <a:xfrm>
            <a:off x="4892040" y="169164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3" name="Text 41"/>
          <p:cNvSpPr/>
          <p:nvPr/>
        </p:nvSpPr>
        <p:spPr>
          <a:xfrm>
            <a:off x="5458968" y="171907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Use Case Walkthrough</a:t>
            </a:r>
            <a:endParaRPr lang="en-US" sz="1300" dirty="0"/>
          </a:p>
        </p:txBody>
      </p:sp>
      <p:sp>
        <p:nvSpPr>
          <p:cNvPr id="44" name="Text 42"/>
          <p:cNvSpPr/>
          <p:nvPr/>
        </p:nvSpPr>
        <p:spPr>
          <a:xfrm>
            <a:off x="5458968" y="196596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Business scenarios</a:t>
            </a:r>
            <a:endParaRPr lang="en-US" sz="1000" dirty="0"/>
          </a:p>
        </p:txBody>
      </p:sp>
      <p:sp>
        <p:nvSpPr>
          <p:cNvPr id="45" name="Shape 43"/>
          <p:cNvSpPr/>
          <p:nvPr/>
        </p:nvSpPr>
        <p:spPr>
          <a:xfrm>
            <a:off x="4892040" y="233172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46" name="Shape 44"/>
          <p:cNvSpPr/>
          <p:nvPr/>
        </p:nvSpPr>
        <p:spPr>
          <a:xfrm>
            <a:off x="4892040" y="2331720"/>
            <a:ext cx="475488" cy="530352"/>
          </a:xfrm>
          <a:prstGeom prst="roundRect">
            <a:avLst>
              <a:gd name="adj" fmla="val 13462"/>
            </a:avLst>
          </a:prstGeom>
          <a:solidFill>
            <a:srgbClr val="1565C0"/>
          </a:solidFill>
          <a:ln/>
        </p:spPr>
      </p:sp>
      <p:sp>
        <p:nvSpPr>
          <p:cNvPr id="47" name="Text 45"/>
          <p:cNvSpPr/>
          <p:nvPr/>
        </p:nvSpPr>
        <p:spPr>
          <a:xfrm>
            <a:off x="4892040" y="233172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8" name="Text 46"/>
          <p:cNvSpPr/>
          <p:nvPr/>
        </p:nvSpPr>
        <p:spPr>
          <a:xfrm>
            <a:off x="5458968" y="235915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Before vs. After Demo</a:t>
            </a:r>
            <a:endParaRPr lang="en-US" sz="1300" dirty="0"/>
          </a:p>
        </p:txBody>
      </p:sp>
      <p:sp>
        <p:nvSpPr>
          <p:cNvPr id="49" name="Text 47"/>
          <p:cNvSpPr/>
          <p:nvPr/>
        </p:nvSpPr>
        <p:spPr>
          <a:xfrm>
            <a:off x="5458968" y="260604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Prompt comparison interface</a:t>
            </a:r>
            <a:endParaRPr lang="en-US" sz="1000" dirty="0"/>
          </a:p>
        </p:txBody>
      </p:sp>
      <p:sp>
        <p:nvSpPr>
          <p:cNvPr id="50" name="Shape 48"/>
          <p:cNvSpPr/>
          <p:nvPr/>
        </p:nvSpPr>
        <p:spPr>
          <a:xfrm>
            <a:off x="4892040" y="297180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51" name="Shape 49"/>
          <p:cNvSpPr/>
          <p:nvPr/>
        </p:nvSpPr>
        <p:spPr>
          <a:xfrm>
            <a:off x="4892040" y="2971800"/>
            <a:ext cx="475488" cy="530352"/>
          </a:xfrm>
          <a:prstGeom prst="roundRect">
            <a:avLst>
              <a:gd name="adj" fmla="val 13462"/>
            </a:avLst>
          </a:prstGeom>
          <a:solidFill>
            <a:srgbClr val="1565C0"/>
          </a:solidFill>
          <a:ln/>
        </p:spPr>
      </p:sp>
      <p:sp>
        <p:nvSpPr>
          <p:cNvPr id="52" name="Text 50"/>
          <p:cNvSpPr/>
          <p:nvPr/>
        </p:nvSpPr>
        <p:spPr>
          <a:xfrm>
            <a:off x="4892040" y="297180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53" name="Text 51"/>
          <p:cNvSpPr/>
          <p:nvPr/>
        </p:nvSpPr>
        <p:spPr>
          <a:xfrm>
            <a:off x="5458968" y="299923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Impact &amp; Benefits</a:t>
            </a:r>
            <a:endParaRPr lang="en-US" sz="1300" dirty="0"/>
          </a:p>
        </p:txBody>
      </p:sp>
      <p:sp>
        <p:nvSpPr>
          <p:cNvPr id="54" name="Text 52"/>
          <p:cNvSpPr/>
          <p:nvPr/>
        </p:nvSpPr>
        <p:spPr>
          <a:xfrm>
            <a:off x="5458968" y="324612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Measurable outcomes</a:t>
            </a:r>
            <a:endParaRPr lang="en-US" sz="1000" dirty="0"/>
          </a:p>
        </p:txBody>
      </p:sp>
      <p:sp>
        <p:nvSpPr>
          <p:cNvPr id="55" name="Shape 53"/>
          <p:cNvSpPr/>
          <p:nvPr/>
        </p:nvSpPr>
        <p:spPr>
          <a:xfrm>
            <a:off x="4892040" y="361188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56" name="Shape 54"/>
          <p:cNvSpPr/>
          <p:nvPr/>
        </p:nvSpPr>
        <p:spPr>
          <a:xfrm>
            <a:off x="4892040" y="3611880"/>
            <a:ext cx="475488" cy="530352"/>
          </a:xfrm>
          <a:prstGeom prst="roundRect">
            <a:avLst>
              <a:gd name="adj" fmla="val 13462"/>
            </a:avLst>
          </a:prstGeom>
          <a:solidFill>
            <a:srgbClr val="1565C0"/>
          </a:solidFill>
          <a:ln/>
        </p:spPr>
      </p:sp>
      <p:sp>
        <p:nvSpPr>
          <p:cNvPr id="57" name="Text 55"/>
          <p:cNvSpPr/>
          <p:nvPr/>
        </p:nvSpPr>
        <p:spPr>
          <a:xfrm>
            <a:off x="4892040" y="361188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8" name="Text 56"/>
          <p:cNvSpPr/>
          <p:nvPr/>
        </p:nvSpPr>
        <p:spPr>
          <a:xfrm>
            <a:off x="5458968" y="363931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Implementation Roadmap</a:t>
            </a:r>
            <a:endParaRPr lang="en-US" sz="1300" dirty="0"/>
          </a:p>
        </p:txBody>
      </p:sp>
      <p:sp>
        <p:nvSpPr>
          <p:cNvPr id="59" name="Text 57"/>
          <p:cNvSpPr/>
          <p:nvPr/>
        </p:nvSpPr>
        <p:spPr>
          <a:xfrm>
            <a:off x="5458968" y="388620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Phased plan</a:t>
            </a:r>
            <a:endParaRPr lang="en-US" sz="1000" dirty="0"/>
          </a:p>
        </p:txBody>
      </p:sp>
      <p:sp>
        <p:nvSpPr>
          <p:cNvPr id="60" name="Shape 58"/>
          <p:cNvSpPr/>
          <p:nvPr/>
        </p:nvSpPr>
        <p:spPr>
          <a:xfrm>
            <a:off x="4892040" y="4251960"/>
            <a:ext cx="393192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61" name="Shape 59"/>
          <p:cNvSpPr/>
          <p:nvPr/>
        </p:nvSpPr>
        <p:spPr>
          <a:xfrm>
            <a:off x="4892040" y="4251960"/>
            <a:ext cx="475488" cy="530352"/>
          </a:xfrm>
          <a:prstGeom prst="roundRect">
            <a:avLst>
              <a:gd name="adj" fmla="val 13462"/>
            </a:avLst>
          </a:prstGeom>
          <a:solidFill>
            <a:srgbClr val="1565C0"/>
          </a:solidFill>
          <a:ln/>
        </p:spPr>
      </p:sp>
      <p:sp>
        <p:nvSpPr>
          <p:cNvPr id="62" name="Text 60"/>
          <p:cNvSpPr/>
          <p:nvPr/>
        </p:nvSpPr>
        <p:spPr>
          <a:xfrm>
            <a:off x="4892040" y="4251960"/>
            <a:ext cx="47548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63" name="Text 61"/>
          <p:cNvSpPr/>
          <p:nvPr/>
        </p:nvSpPr>
        <p:spPr>
          <a:xfrm>
            <a:off x="5458968" y="4279392"/>
            <a:ext cx="3246120" cy="256032"/>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Conclusion</a:t>
            </a:r>
            <a:endParaRPr lang="en-US" sz="1300" dirty="0"/>
          </a:p>
        </p:txBody>
      </p:sp>
      <p:sp>
        <p:nvSpPr>
          <p:cNvPr id="64" name="Text 62"/>
          <p:cNvSpPr/>
          <p:nvPr/>
        </p:nvSpPr>
        <p:spPr>
          <a:xfrm>
            <a:off x="5458968" y="4526280"/>
            <a:ext cx="3246120" cy="201168"/>
          </a:xfrm>
          <a:prstGeom prst="rect">
            <a:avLst/>
          </a:prstGeom>
          <a:noFill/>
          <a:ln/>
        </p:spPr>
        <p:txBody>
          <a:bodyPr wrap="square" lIns="0" tIns="0" rIns="0" bIns="0" rtlCol="0" anchor="ctr"/>
          <a:lstStyle/>
          <a:p>
            <a:pPr indent="0" marL="0">
              <a:buNone/>
            </a:pPr>
            <a:r>
              <a:rPr lang="en-US" sz="1000" dirty="0">
                <a:solidFill>
                  <a:srgbClr val="546E7A"/>
                </a:solidFill>
                <a:latin typeface="Calibri" pitchFamily="34" charset="0"/>
                <a:ea typeface="Calibri" pitchFamily="34" charset="-122"/>
                <a:cs typeface="Calibri" pitchFamily="34" charset="-120"/>
              </a:rPr>
              <a:t>Summary &amp; next steps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565C0"/>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1565C0"/>
                </a:solidFill>
                <a:latin typeface="Calibri" pitchFamily="34" charset="0"/>
                <a:ea typeface="Calibri" pitchFamily="34" charset="-122"/>
                <a:cs typeface="Calibri" pitchFamily="34" charset="-120"/>
              </a:rPr>
              <a:t>What is a Large Language Model (LLM)?</a:t>
            </a:r>
            <a:endParaRPr lang="en-US" sz="26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01  |  Foundations</a:t>
            </a:r>
            <a:endParaRPr lang="en-US" sz="1000" dirty="0"/>
          </a:p>
        </p:txBody>
      </p:sp>
      <p:sp>
        <p:nvSpPr>
          <p:cNvPr id="5" name="Shape 3"/>
          <p:cNvSpPr/>
          <p:nvPr/>
        </p:nvSpPr>
        <p:spPr>
          <a:xfrm>
            <a:off x="320040" y="960120"/>
            <a:ext cx="4754880" cy="1234440"/>
          </a:xfrm>
          <a:prstGeom prst="roundRect">
            <a:avLst>
              <a:gd name="adj" fmla="val 7407"/>
            </a:avLst>
          </a:prstGeom>
          <a:solidFill>
            <a:srgbClr val="1565C0"/>
          </a:solidFill>
          <a:ln/>
        </p:spPr>
      </p:sp>
      <p:pic>
        <p:nvPicPr>
          <p:cNvPr id="6" name="Image 0" descr="preencoded.png">    </p:cNvPr>
          <p:cNvPicPr>
            <a:picLocks noChangeAspect="1"/>
          </p:cNvPicPr>
          <p:nvPr/>
        </p:nvPicPr>
        <p:blipFill>
          <a:blip r:embed="rId1"/>
          <a:stretch>
            <a:fillRect/>
          </a:stretch>
        </p:blipFill>
        <p:spPr>
          <a:xfrm>
            <a:off x="457200" y="1024128"/>
            <a:ext cx="502920" cy="502920"/>
          </a:xfrm>
          <a:prstGeom prst="rect">
            <a:avLst/>
          </a:prstGeom>
        </p:spPr>
      </p:pic>
      <p:sp>
        <p:nvSpPr>
          <p:cNvPr id="7" name="Text 4"/>
          <p:cNvSpPr/>
          <p:nvPr/>
        </p:nvSpPr>
        <p:spPr>
          <a:xfrm>
            <a:off x="1024128" y="987552"/>
            <a:ext cx="3931920" cy="11430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An LLM is an AI model trained on massive text datasets to understand and generate human-like language. It predicts the most relevant next word or phrase based on statistical patterns learned during training.</a:t>
            </a:r>
            <a:endParaRPr lang="en-US" sz="1200" dirty="0"/>
          </a:p>
        </p:txBody>
      </p:sp>
      <p:sp>
        <p:nvSpPr>
          <p:cNvPr id="8" name="Shape 5"/>
          <p:cNvSpPr/>
          <p:nvPr/>
        </p:nvSpPr>
        <p:spPr>
          <a:xfrm>
            <a:off x="320040" y="2331720"/>
            <a:ext cx="475488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9" name="Text 6"/>
          <p:cNvSpPr/>
          <p:nvPr/>
        </p:nvSpPr>
        <p:spPr>
          <a:xfrm>
            <a:off x="438912" y="2395728"/>
            <a:ext cx="1280160" cy="365760"/>
          </a:xfrm>
          <a:prstGeom prst="rect">
            <a:avLst/>
          </a:prstGeom>
          <a:noFill/>
          <a:ln/>
        </p:spPr>
        <p:txBody>
          <a:bodyPr wrap="square" lIns="0" tIns="0" rIns="0" bIns="0"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Training Data:</a:t>
            </a:r>
            <a:endParaRPr lang="en-US" sz="1100" dirty="0"/>
          </a:p>
        </p:txBody>
      </p:sp>
      <p:sp>
        <p:nvSpPr>
          <p:cNvPr id="10" name="Text 7"/>
          <p:cNvSpPr/>
          <p:nvPr/>
        </p:nvSpPr>
        <p:spPr>
          <a:xfrm>
            <a:off x="1737360" y="2395728"/>
            <a:ext cx="3200400" cy="36576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Trillions of tokens from web, books, code</a:t>
            </a:r>
            <a:endParaRPr lang="en-US" sz="1100" dirty="0"/>
          </a:p>
        </p:txBody>
      </p:sp>
      <p:sp>
        <p:nvSpPr>
          <p:cNvPr id="11" name="Shape 8"/>
          <p:cNvSpPr/>
          <p:nvPr/>
        </p:nvSpPr>
        <p:spPr>
          <a:xfrm>
            <a:off x="320040" y="2953512"/>
            <a:ext cx="475488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12" name="Text 9"/>
          <p:cNvSpPr/>
          <p:nvPr/>
        </p:nvSpPr>
        <p:spPr>
          <a:xfrm>
            <a:off x="438912" y="3017520"/>
            <a:ext cx="1280160" cy="365760"/>
          </a:xfrm>
          <a:prstGeom prst="rect">
            <a:avLst/>
          </a:prstGeom>
          <a:noFill/>
          <a:ln/>
        </p:spPr>
        <p:txBody>
          <a:bodyPr wrap="square" lIns="0" tIns="0" rIns="0" bIns="0"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Core Mechanism:</a:t>
            </a:r>
            <a:endParaRPr lang="en-US" sz="1100" dirty="0"/>
          </a:p>
        </p:txBody>
      </p:sp>
      <p:sp>
        <p:nvSpPr>
          <p:cNvPr id="13" name="Text 10"/>
          <p:cNvSpPr/>
          <p:nvPr/>
        </p:nvSpPr>
        <p:spPr>
          <a:xfrm>
            <a:off x="1737360" y="3017520"/>
            <a:ext cx="3200400" cy="36576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Transformer neural networks + attention</a:t>
            </a:r>
            <a:endParaRPr lang="en-US" sz="1100" dirty="0"/>
          </a:p>
        </p:txBody>
      </p:sp>
      <p:sp>
        <p:nvSpPr>
          <p:cNvPr id="14" name="Shape 11"/>
          <p:cNvSpPr/>
          <p:nvPr/>
        </p:nvSpPr>
        <p:spPr>
          <a:xfrm>
            <a:off x="320040" y="3575304"/>
            <a:ext cx="475488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15" name="Text 12"/>
          <p:cNvSpPr/>
          <p:nvPr/>
        </p:nvSpPr>
        <p:spPr>
          <a:xfrm>
            <a:off x="438912" y="3639312"/>
            <a:ext cx="1280160" cy="365760"/>
          </a:xfrm>
          <a:prstGeom prst="rect">
            <a:avLst/>
          </a:prstGeom>
          <a:noFill/>
          <a:ln/>
        </p:spPr>
        <p:txBody>
          <a:bodyPr wrap="square" lIns="0" tIns="0" rIns="0" bIns="0"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Examples:</a:t>
            </a:r>
            <a:endParaRPr lang="en-US" sz="1100" dirty="0"/>
          </a:p>
        </p:txBody>
      </p:sp>
      <p:sp>
        <p:nvSpPr>
          <p:cNvPr id="16" name="Text 13"/>
          <p:cNvSpPr/>
          <p:nvPr/>
        </p:nvSpPr>
        <p:spPr>
          <a:xfrm>
            <a:off x="1737360" y="3639312"/>
            <a:ext cx="3200400" cy="36576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GPT-4, Claude, Gemini, LLaMA</a:t>
            </a:r>
            <a:endParaRPr lang="en-US" sz="1100" dirty="0"/>
          </a:p>
        </p:txBody>
      </p:sp>
      <p:sp>
        <p:nvSpPr>
          <p:cNvPr id="17" name="Shape 14"/>
          <p:cNvSpPr/>
          <p:nvPr/>
        </p:nvSpPr>
        <p:spPr>
          <a:xfrm>
            <a:off x="320040" y="4197096"/>
            <a:ext cx="4754880" cy="530352"/>
          </a:xfrm>
          <a:prstGeom prst="roundRect">
            <a:avLst>
              <a:gd name="adj" fmla="val 12069"/>
            </a:avLst>
          </a:prstGeom>
          <a:solidFill>
            <a:srgbClr val="FFFFFF"/>
          </a:solidFill>
          <a:ln/>
          <a:effectLst>
            <a:outerShdw sx="100000" sy="100000" kx="0" ky="0" algn="bl" rotWithShape="0" blurRad="101600" dist="38100" dir="2700000">
              <a:srgbClr val="000000">
                <a:alpha val="12000"/>
              </a:srgbClr>
            </a:outerShdw>
          </a:effectLst>
        </p:spPr>
      </p:sp>
      <p:sp>
        <p:nvSpPr>
          <p:cNvPr id="18" name="Text 15"/>
          <p:cNvSpPr/>
          <p:nvPr/>
        </p:nvSpPr>
        <p:spPr>
          <a:xfrm>
            <a:off x="438912" y="4261104"/>
            <a:ext cx="1280160" cy="365760"/>
          </a:xfrm>
          <a:prstGeom prst="rect">
            <a:avLst/>
          </a:prstGeom>
          <a:noFill/>
          <a:ln/>
        </p:spPr>
        <p:txBody>
          <a:bodyPr wrap="square" lIns="0" tIns="0" rIns="0" bIns="0"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Output Type:</a:t>
            </a:r>
            <a:endParaRPr lang="en-US" sz="1100" dirty="0"/>
          </a:p>
        </p:txBody>
      </p:sp>
      <p:sp>
        <p:nvSpPr>
          <p:cNvPr id="19" name="Text 16"/>
          <p:cNvSpPr/>
          <p:nvPr/>
        </p:nvSpPr>
        <p:spPr>
          <a:xfrm>
            <a:off x="1737360" y="4261104"/>
            <a:ext cx="3200400" cy="36576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Text, code, summaries, decisions</a:t>
            </a:r>
            <a:endParaRPr lang="en-US" sz="1100" dirty="0"/>
          </a:p>
        </p:txBody>
      </p:sp>
      <p:sp>
        <p:nvSpPr>
          <p:cNvPr id="20" name="Shape 17"/>
          <p:cNvSpPr/>
          <p:nvPr/>
        </p:nvSpPr>
        <p:spPr>
          <a:xfrm>
            <a:off x="5394960" y="960120"/>
            <a:ext cx="3429000" cy="3794760"/>
          </a:xfrm>
          <a:prstGeom prst="roundRect">
            <a:avLst>
              <a:gd name="adj" fmla="val 2667"/>
            </a:avLst>
          </a:prstGeom>
          <a:solidFill>
            <a:srgbClr val="EAF4FB"/>
          </a:solidFill>
          <a:ln/>
          <a:effectLst>
            <a:outerShdw sx="100000" sy="100000" kx="0" ky="0" algn="bl" rotWithShape="0" blurRad="101600" dist="38100" dir="2700000">
              <a:srgbClr val="000000">
                <a:alpha val="12000"/>
              </a:srgbClr>
            </a:outerShdw>
          </a:effectLst>
        </p:spPr>
      </p:sp>
      <p:pic>
        <p:nvPicPr>
          <p:cNvPr id="21" name="Image 1" descr="https://upload.wikimedia.org/wikipedia/commons/thumb/1/14/Gatto_europeo4.jpg/400px-Gatto_europeo4.jpg">    </p:cNvPr>
          <p:cNvPicPr>
            <a:picLocks noChangeAspect="1"/>
          </p:cNvPicPr>
          <p:nvPr/>
        </p:nvPicPr>
        <p:blipFill>
          <a:blip r:embed="rId2"/>
          <a:srcRect l="0" r="0" t="0" b="0"/>
          <a:stretch/>
        </p:blipFill>
        <p:spPr>
          <a:xfrm>
            <a:off x="5394960" y="960120"/>
            <a:ext cx="3429000" cy="3794760"/>
          </a:xfrm>
          <a:prstGeom prst="rect">
            <a:avLst/>
          </a:prstGeom>
        </p:spPr>
      </p:pic>
      <p:sp>
        <p:nvSpPr>
          <p:cNvPr id="22" name="Shape 18"/>
          <p:cNvSpPr/>
          <p:nvPr/>
        </p:nvSpPr>
        <p:spPr>
          <a:xfrm>
            <a:off x="5394960" y="960120"/>
            <a:ext cx="3429000" cy="3794760"/>
          </a:xfrm>
          <a:prstGeom prst="roundRect">
            <a:avLst>
              <a:gd name="adj" fmla="val 2667"/>
            </a:avLst>
          </a:prstGeom>
          <a:solidFill>
            <a:srgbClr val="EAF4FB"/>
          </a:solidFill>
          <a:ln/>
        </p:spPr>
      </p:sp>
      <p:sp>
        <p:nvSpPr>
          <p:cNvPr id="23" name="Text 19"/>
          <p:cNvSpPr/>
          <p:nvPr/>
        </p:nvSpPr>
        <p:spPr>
          <a:xfrm>
            <a:off x="6675120" y="1371600"/>
            <a:ext cx="914400" cy="822960"/>
          </a:xfrm>
          <a:prstGeom prst="rect">
            <a:avLst/>
          </a:prstGeom>
          <a:noFill/>
          <a:ln/>
        </p:spPr>
        <p:txBody>
          <a:bodyPr wrap="square" lIns="0" tIns="0" rIns="0" bIns="0" rtlCol="0" anchor="ctr"/>
          <a:lstStyle/>
          <a:p>
            <a:pPr algn="ctr" indent="0" marL="0">
              <a:buNone/>
            </a:pPr>
            <a:r>
              <a:rPr lang="en-US" sz="4200" dirty="0">
                <a:solidFill>
                  <a:srgbClr val="000000"/>
                </a:solidFill>
              </a:rPr>
              <a:t>🧠</a:t>
            </a:r>
            <a:endParaRPr lang="en-US" sz="4200" dirty="0"/>
          </a:p>
        </p:txBody>
      </p:sp>
      <p:sp>
        <p:nvSpPr>
          <p:cNvPr id="24" name="Text 20"/>
          <p:cNvSpPr/>
          <p:nvPr/>
        </p:nvSpPr>
        <p:spPr>
          <a:xfrm>
            <a:off x="5486400" y="2286000"/>
            <a:ext cx="3200400" cy="365760"/>
          </a:xfrm>
          <a:prstGeom prst="rect">
            <a:avLst/>
          </a:prstGeom>
          <a:noFill/>
          <a:ln/>
        </p:spPr>
        <p:txBody>
          <a:bodyPr wrap="square" lIns="0" tIns="0" rIns="0" bIns="0" rtlCol="0" anchor="ctr"/>
          <a:lstStyle/>
          <a:p>
            <a:pPr algn="ctr" indent="0" marL="0">
              <a:buNone/>
            </a:pPr>
            <a:r>
              <a:rPr lang="en-US" sz="1400" b="1" dirty="0">
                <a:solidFill>
                  <a:srgbClr val="1565C0"/>
                </a:solidFill>
                <a:latin typeface="Calibri" pitchFamily="34" charset="0"/>
                <a:ea typeface="Calibri" pitchFamily="34" charset="-122"/>
                <a:cs typeface="Calibri" pitchFamily="34" charset="-120"/>
              </a:rPr>
              <a:t>How an LLM Works</a:t>
            </a:r>
            <a:endParaRPr lang="en-US" sz="1400" dirty="0"/>
          </a:p>
        </p:txBody>
      </p:sp>
      <p:sp>
        <p:nvSpPr>
          <p:cNvPr id="25" name="Shape 21"/>
          <p:cNvSpPr/>
          <p:nvPr/>
        </p:nvSpPr>
        <p:spPr>
          <a:xfrm>
            <a:off x="5577840" y="2743200"/>
            <a:ext cx="3017520" cy="301752"/>
          </a:xfrm>
          <a:prstGeom prst="roundRect">
            <a:avLst>
              <a:gd name="adj" fmla="val 15152"/>
            </a:avLst>
          </a:prstGeom>
          <a:solidFill>
            <a:srgbClr val="1565C0"/>
          </a:solidFill>
          <a:ln/>
        </p:spPr>
      </p:sp>
      <p:sp>
        <p:nvSpPr>
          <p:cNvPr id="26" name="Text 22"/>
          <p:cNvSpPr/>
          <p:nvPr/>
        </p:nvSpPr>
        <p:spPr>
          <a:xfrm>
            <a:off x="5577840" y="2743200"/>
            <a:ext cx="301752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Input Prompt</a:t>
            </a:r>
            <a:endParaRPr lang="en-US" sz="1100" dirty="0"/>
          </a:p>
        </p:txBody>
      </p:sp>
      <p:sp>
        <p:nvSpPr>
          <p:cNvPr id="27" name="Text 23"/>
          <p:cNvSpPr/>
          <p:nvPr/>
        </p:nvSpPr>
        <p:spPr>
          <a:xfrm>
            <a:off x="6949440" y="3035808"/>
            <a:ext cx="365760" cy="137160"/>
          </a:xfrm>
          <a:prstGeom prst="rect">
            <a:avLst/>
          </a:prstGeom>
          <a:noFill/>
          <a:ln/>
        </p:spPr>
        <p:txBody>
          <a:bodyPr wrap="square" lIns="0" tIns="0" rIns="0" bIns="0" rtlCol="0" anchor="ctr"/>
          <a:lstStyle/>
          <a:p>
            <a:pPr algn="ctr" indent="0" marL="0">
              <a:buNone/>
            </a:pPr>
            <a:r>
              <a:rPr lang="en-US" sz="900" dirty="0">
                <a:solidFill>
                  <a:srgbClr val="1565C0"/>
                </a:solidFill>
              </a:rPr>
              <a:t>▼</a:t>
            </a:r>
            <a:endParaRPr lang="en-US" sz="900" dirty="0"/>
          </a:p>
        </p:txBody>
      </p:sp>
      <p:sp>
        <p:nvSpPr>
          <p:cNvPr id="28" name="Shape 24"/>
          <p:cNvSpPr/>
          <p:nvPr/>
        </p:nvSpPr>
        <p:spPr>
          <a:xfrm>
            <a:off x="5577840" y="3127248"/>
            <a:ext cx="3017520" cy="301752"/>
          </a:xfrm>
          <a:prstGeom prst="roundRect">
            <a:avLst>
              <a:gd name="adj" fmla="val 15152"/>
            </a:avLst>
          </a:prstGeom>
          <a:solidFill>
            <a:srgbClr val="00BCD4">
              <a:alpha val="85000"/>
            </a:srgbClr>
          </a:solidFill>
          <a:ln/>
        </p:spPr>
      </p:sp>
      <p:sp>
        <p:nvSpPr>
          <p:cNvPr id="29" name="Text 25"/>
          <p:cNvSpPr/>
          <p:nvPr/>
        </p:nvSpPr>
        <p:spPr>
          <a:xfrm>
            <a:off x="5577840" y="3127248"/>
            <a:ext cx="301752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Tokenization</a:t>
            </a:r>
            <a:endParaRPr lang="en-US" sz="1100" dirty="0"/>
          </a:p>
        </p:txBody>
      </p:sp>
      <p:sp>
        <p:nvSpPr>
          <p:cNvPr id="30" name="Text 26"/>
          <p:cNvSpPr/>
          <p:nvPr/>
        </p:nvSpPr>
        <p:spPr>
          <a:xfrm>
            <a:off x="6949440" y="3419856"/>
            <a:ext cx="365760" cy="137160"/>
          </a:xfrm>
          <a:prstGeom prst="rect">
            <a:avLst/>
          </a:prstGeom>
          <a:noFill/>
          <a:ln/>
        </p:spPr>
        <p:txBody>
          <a:bodyPr wrap="square" lIns="0" tIns="0" rIns="0" bIns="0" rtlCol="0" anchor="ctr"/>
          <a:lstStyle/>
          <a:p>
            <a:pPr algn="ctr" indent="0" marL="0">
              <a:buNone/>
            </a:pPr>
            <a:r>
              <a:rPr lang="en-US" sz="900" dirty="0">
                <a:solidFill>
                  <a:srgbClr val="1565C0"/>
                </a:solidFill>
              </a:rPr>
              <a:t>▼</a:t>
            </a:r>
            <a:endParaRPr lang="en-US" sz="900" dirty="0"/>
          </a:p>
        </p:txBody>
      </p:sp>
      <p:sp>
        <p:nvSpPr>
          <p:cNvPr id="31" name="Shape 27"/>
          <p:cNvSpPr/>
          <p:nvPr/>
        </p:nvSpPr>
        <p:spPr>
          <a:xfrm>
            <a:off x="5577840" y="3511296"/>
            <a:ext cx="3017520" cy="301752"/>
          </a:xfrm>
          <a:prstGeom prst="roundRect">
            <a:avLst>
              <a:gd name="adj" fmla="val 15152"/>
            </a:avLst>
          </a:prstGeom>
          <a:solidFill>
            <a:srgbClr val="1565C0">
              <a:alpha val="85000"/>
            </a:srgbClr>
          </a:solidFill>
          <a:ln/>
        </p:spPr>
      </p:sp>
      <p:sp>
        <p:nvSpPr>
          <p:cNvPr id="32" name="Text 28"/>
          <p:cNvSpPr/>
          <p:nvPr/>
        </p:nvSpPr>
        <p:spPr>
          <a:xfrm>
            <a:off x="5577840" y="3511296"/>
            <a:ext cx="301752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Transformer Layers</a:t>
            </a:r>
            <a:endParaRPr lang="en-US" sz="1100" dirty="0"/>
          </a:p>
        </p:txBody>
      </p:sp>
      <p:sp>
        <p:nvSpPr>
          <p:cNvPr id="33" name="Text 29"/>
          <p:cNvSpPr/>
          <p:nvPr/>
        </p:nvSpPr>
        <p:spPr>
          <a:xfrm>
            <a:off x="6949440" y="3803904"/>
            <a:ext cx="365760" cy="137160"/>
          </a:xfrm>
          <a:prstGeom prst="rect">
            <a:avLst/>
          </a:prstGeom>
          <a:noFill/>
          <a:ln/>
        </p:spPr>
        <p:txBody>
          <a:bodyPr wrap="square" lIns="0" tIns="0" rIns="0" bIns="0" rtlCol="0" anchor="ctr"/>
          <a:lstStyle/>
          <a:p>
            <a:pPr algn="ctr" indent="0" marL="0">
              <a:buNone/>
            </a:pPr>
            <a:r>
              <a:rPr lang="en-US" sz="900" dirty="0">
                <a:solidFill>
                  <a:srgbClr val="1565C0"/>
                </a:solidFill>
              </a:rPr>
              <a:t>▼</a:t>
            </a:r>
            <a:endParaRPr lang="en-US" sz="900" dirty="0"/>
          </a:p>
        </p:txBody>
      </p:sp>
      <p:sp>
        <p:nvSpPr>
          <p:cNvPr id="34" name="Shape 30"/>
          <p:cNvSpPr/>
          <p:nvPr/>
        </p:nvSpPr>
        <p:spPr>
          <a:xfrm>
            <a:off x="5577840" y="3895344"/>
            <a:ext cx="3017520" cy="301752"/>
          </a:xfrm>
          <a:prstGeom prst="roundRect">
            <a:avLst>
              <a:gd name="adj" fmla="val 15152"/>
            </a:avLst>
          </a:prstGeom>
          <a:solidFill>
            <a:srgbClr val="00BCD4">
              <a:alpha val="85000"/>
            </a:srgbClr>
          </a:solidFill>
          <a:ln/>
        </p:spPr>
      </p:sp>
      <p:sp>
        <p:nvSpPr>
          <p:cNvPr id="35" name="Text 31"/>
          <p:cNvSpPr/>
          <p:nvPr/>
        </p:nvSpPr>
        <p:spPr>
          <a:xfrm>
            <a:off x="5577840" y="3895344"/>
            <a:ext cx="301752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Probability Scoring</a:t>
            </a:r>
            <a:endParaRPr lang="en-US" sz="1100" dirty="0"/>
          </a:p>
        </p:txBody>
      </p:sp>
      <p:sp>
        <p:nvSpPr>
          <p:cNvPr id="36" name="Text 32"/>
          <p:cNvSpPr/>
          <p:nvPr/>
        </p:nvSpPr>
        <p:spPr>
          <a:xfrm>
            <a:off x="6949440" y="4187952"/>
            <a:ext cx="365760" cy="137160"/>
          </a:xfrm>
          <a:prstGeom prst="rect">
            <a:avLst/>
          </a:prstGeom>
          <a:noFill/>
          <a:ln/>
        </p:spPr>
        <p:txBody>
          <a:bodyPr wrap="square" lIns="0" tIns="0" rIns="0" bIns="0" rtlCol="0" anchor="ctr"/>
          <a:lstStyle/>
          <a:p>
            <a:pPr algn="ctr" indent="0" marL="0">
              <a:buNone/>
            </a:pPr>
            <a:r>
              <a:rPr lang="en-US" sz="900" dirty="0">
                <a:solidFill>
                  <a:srgbClr val="1565C0"/>
                </a:solidFill>
              </a:rPr>
              <a:t>▼</a:t>
            </a:r>
            <a:endParaRPr lang="en-US" sz="900" dirty="0"/>
          </a:p>
        </p:txBody>
      </p:sp>
      <p:sp>
        <p:nvSpPr>
          <p:cNvPr id="37" name="Shape 33"/>
          <p:cNvSpPr/>
          <p:nvPr/>
        </p:nvSpPr>
        <p:spPr>
          <a:xfrm>
            <a:off x="5577840" y="4279392"/>
            <a:ext cx="3017520" cy="301752"/>
          </a:xfrm>
          <a:prstGeom prst="roundRect">
            <a:avLst>
              <a:gd name="adj" fmla="val 15152"/>
            </a:avLst>
          </a:prstGeom>
          <a:solidFill>
            <a:srgbClr val="1565C0">
              <a:alpha val="85000"/>
            </a:srgbClr>
          </a:solidFill>
          <a:ln/>
        </p:spPr>
      </p:sp>
      <p:sp>
        <p:nvSpPr>
          <p:cNvPr id="38" name="Text 34"/>
          <p:cNvSpPr/>
          <p:nvPr/>
        </p:nvSpPr>
        <p:spPr>
          <a:xfrm>
            <a:off x="5577840" y="4279392"/>
            <a:ext cx="3017520"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 Generation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565C0"/>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1565C0"/>
                </a:solidFill>
                <a:latin typeface="Calibri" pitchFamily="34" charset="0"/>
                <a:ea typeface="Calibri" pitchFamily="34" charset="-122"/>
                <a:cs typeface="Calibri" pitchFamily="34" charset="-120"/>
              </a:rPr>
              <a:t>The Role of Prompting in LLMs</a:t>
            </a:r>
            <a:endParaRPr lang="en-US" sz="26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02  |  Prompts as the Interface</a:t>
            </a:r>
            <a:endParaRPr lang="en-US" sz="1000" dirty="0"/>
          </a:p>
        </p:txBody>
      </p:sp>
      <p:sp>
        <p:nvSpPr>
          <p:cNvPr id="5" name="Shape 3"/>
          <p:cNvSpPr/>
          <p:nvPr/>
        </p:nvSpPr>
        <p:spPr>
          <a:xfrm>
            <a:off x="320040" y="960120"/>
            <a:ext cx="8503920" cy="685800"/>
          </a:xfrm>
          <a:prstGeom prst="roundRect">
            <a:avLst>
              <a:gd name="adj" fmla="val 13333"/>
            </a:avLst>
          </a:prstGeom>
          <a:solidFill>
            <a:srgbClr val="1A2E4A"/>
          </a:solidFill>
          <a:ln/>
        </p:spPr>
      </p:sp>
      <p:pic>
        <p:nvPicPr>
          <p:cNvPr id="6" name="Image 0" descr="preencoded.png">    </p:cNvPr>
          <p:cNvPicPr>
            <a:picLocks noChangeAspect="1"/>
          </p:cNvPicPr>
          <p:nvPr/>
        </p:nvPicPr>
        <p:blipFill>
          <a:blip r:embed="rId1"/>
          <a:stretch>
            <a:fillRect/>
          </a:stretch>
        </p:blipFill>
        <p:spPr>
          <a:xfrm>
            <a:off x="457200" y="1078992"/>
            <a:ext cx="411480" cy="411480"/>
          </a:xfrm>
          <a:prstGeom prst="rect">
            <a:avLst/>
          </a:prstGeom>
        </p:spPr>
      </p:pic>
      <p:sp>
        <p:nvSpPr>
          <p:cNvPr id="7" name="Text 4"/>
          <p:cNvSpPr/>
          <p:nvPr/>
        </p:nvSpPr>
        <p:spPr>
          <a:xfrm>
            <a:off x="1005840" y="1005840"/>
            <a:ext cx="7680960" cy="59436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"A prompt is to an LLM what a search query is to Google — except far more powerful. It defines the context, role, task, format, and constraints of the response."</a:t>
            </a:r>
            <a:endParaRPr lang="en-US" sz="1300" dirty="0"/>
          </a:p>
        </p:txBody>
      </p:sp>
      <p:sp>
        <p:nvSpPr>
          <p:cNvPr id="8" name="Shape 5"/>
          <p:cNvSpPr/>
          <p:nvPr/>
        </p:nvSpPr>
        <p:spPr>
          <a:xfrm>
            <a:off x="320040" y="1828800"/>
            <a:ext cx="2697480" cy="2971800"/>
          </a:xfrm>
          <a:prstGeom prst="roundRect">
            <a:avLst>
              <a:gd name="adj" fmla="val 3390"/>
            </a:avLst>
          </a:prstGeom>
          <a:solidFill>
            <a:srgbClr val="FFFFFF"/>
          </a:solidFill>
          <a:ln/>
          <a:effectLst>
            <a:outerShdw sx="100000" sy="100000" kx="0" ky="0" algn="bl" rotWithShape="0" blurRad="101600" dist="38100" dir="2700000">
              <a:srgbClr val="000000">
                <a:alpha val="12000"/>
              </a:srgbClr>
            </a:outerShdw>
          </a:effectLst>
        </p:spPr>
      </p:sp>
      <p:sp>
        <p:nvSpPr>
          <p:cNvPr id="9" name="Shape 6"/>
          <p:cNvSpPr/>
          <p:nvPr/>
        </p:nvSpPr>
        <p:spPr>
          <a:xfrm>
            <a:off x="1371600" y="1938528"/>
            <a:ext cx="594360" cy="594360"/>
          </a:xfrm>
          <a:prstGeom prst="ellipse">
            <a:avLst/>
          </a:prstGeom>
          <a:solidFill>
            <a:srgbClr val="1565C0"/>
          </a:solidFill>
          <a:ln/>
        </p:spPr>
      </p:sp>
      <p:pic>
        <p:nvPicPr>
          <p:cNvPr id="10" name="Image 1" descr="preencoded.png">    </p:cNvPr>
          <p:cNvPicPr>
            <a:picLocks noChangeAspect="1"/>
          </p:cNvPicPr>
          <p:nvPr/>
        </p:nvPicPr>
        <p:blipFill>
          <a:blip r:embed="rId2"/>
          <a:stretch>
            <a:fillRect/>
          </a:stretch>
        </p:blipFill>
        <p:spPr>
          <a:xfrm>
            <a:off x="1435608" y="2002536"/>
            <a:ext cx="466344" cy="466344"/>
          </a:xfrm>
          <a:prstGeom prst="rect">
            <a:avLst/>
          </a:prstGeom>
        </p:spPr>
      </p:pic>
      <p:sp>
        <p:nvSpPr>
          <p:cNvPr id="11" name="Text 7"/>
          <p:cNvSpPr/>
          <p:nvPr/>
        </p:nvSpPr>
        <p:spPr>
          <a:xfrm>
            <a:off x="320040" y="2606040"/>
            <a:ext cx="2697480" cy="347472"/>
          </a:xfrm>
          <a:prstGeom prst="rect">
            <a:avLst/>
          </a:prstGeom>
          <a:noFill/>
          <a:ln/>
        </p:spPr>
        <p:txBody>
          <a:bodyPr wrap="square" lIns="0" tIns="0" rIns="0" bIns="0" rtlCol="0" anchor="ctr"/>
          <a:lstStyle/>
          <a:p>
            <a:pPr algn="ctr" indent="0" marL="0">
              <a:buNone/>
            </a:pPr>
            <a:r>
              <a:rPr lang="en-US" sz="1600" b="1" dirty="0">
                <a:solidFill>
                  <a:srgbClr val="1565C0"/>
                </a:solidFill>
                <a:latin typeface="Calibri" pitchFamily="34" charset="0"/>
                <a:ea typeface="Calibri" pitchFamily="34" charset="-122"/>
                <a:cs typeface="Calibri" pitchFamily="34" charset="-120"/>
              </a:rPr>
              <a:t>Context</a:t>
            </a:r>
            <a:endParaRPr lang="en-US" sz="1600" dirty="0"/>
          </a:p>
        </p:txBody>
      </p:sp>
      <p:sp>
        <p:nvSpPr>
          <p:cNvPr id="12" name="Text 8"/>
          <p:cNvSpPr/>
          <p:nvPr/>
        </p:nvSpPr>
        <p:spPr>
          <a:xfrm>
            <a:off x="457200" y="3017520"/>
            <a:ext cx="2423160" cy="1645920"/>
          </a:xfrm>
          <a:prstGeom prst="rect">
            <a:avLst/>
          </a:prstGeom>
          <a:noFill/>
          <a:ln/>
        </p:spPr>
        <p:txBody>
          <a:bodyPr wrap="square" lIns="0" tIns="0" rIns="0" bIns="0" rtlCol="0" anchor="ctr"/>
          <a:lstStyle/>
          <a:p>
            <a:pPr indent="0" marL="0">
              <a:buNone/>
            </a:pPr>
            <a:r>
              <a:rPr lang="en-US" sz="1200" dirty="0">
                <a:solidFill>
                  <a:srgbClr val="1C2B3A"/>
                </a:solidFill>
                <a:latin typeface="Calibri" pitchFamily="34" charset="0"/>
                <a:ea typeface="Calibri" pitchFamily="34" charset="-122"/>
                <a:cs typeface="Calibri" pitchFamily="34" charset="-120"/>
              </a:rPr>
              <a:t>Gives the model background — who is asking, what domain, what tone is expected</a:t>
            </a:r>
            <a:endParaRPr lang="en-US" sz="1200" dirty="0"/>
          </a:p>
        </p:txBody>
      </p:sp>
      <p:sp>
        <p:nvSpPr>
          <p:cNvPr id="13" name="Shape 9"/>
          <p:cNvSpPr/>
          <p:nvPr/>
        </p:nvSpPr>
        <p:spPr>
          <a:xfrm>
            <a:off x="3227832" y="1828800"/>
            <a:ext cx="2697480" cy="2971800"/>
          </a:xfrm>
          <a:prstGeom prst="roundRect">
            <a:avLst>
              <a:gd name="adj" fmla="val 3390"/>
            </a:avLst>
          </a:prstGeom>
          <a:solidFill>
            <a:srgbClr val="FFFFFF"/>
          </a:solidFill>
          <a:ln/>
          <a:effectLst>
            <a:outerShdw sx="100000" sy="100000" kx="0" ky="0" algn="bl" rotWithShape="0" blurRad="101600" dist="38100" dir="2700000">
              <a:srgbClr val="000000">
                <a:alpha val="12000"/>
              </a:srgbClr>
            </a:outerShdw>
          </a:effectLst>
        </p:spPr>
      </p:sp>
      <p:sp>
        <p:nvSpPr>
          <p:cNvPr id="14" name="Shape 10"/>
          <p:cNvSpPr/>
          <p:nvPr/>
        </p:nvSpPr>
        <p:spPr>
          <a:xfrm>
            <a:off x="4279392" y="1938528"/>
            <a:ext cx="594360" cy="594360"/>
          </a:xfrm>
          <a:prstGeom prst="ellipse">
            <a:avLst/>
          </a:prstGeom>
          <a:solidFill>
            <a:srgbClr val="26A69A"/>
          </a:solidFill>
          <a:ln/>
        </p:spPr>
      </p:sp>
      <p:pic>
        <p:nvPicPr>
          <p:cNvPr id="15" name="Image 2" descr="preencoded.png">    </p:cNvPr>
          <p:cNvPicPr>
            <a:picLocks noChangeAspect="1"/>
          </p:cNvPicPr>
          <p:nvPr/>
        </p:nvPicPr>
        <p:blipFill>
          <a:blip r:embed="rId3"/>
          <a:stretch>
            <a:fillRect/>
          </a:stretch>
        </p:blipFill>
        <p:spPr>
          <a:xfrm>
            <a:off x="4343400" y="2002536"/>
            <a:ext cx="466344" cy="466344"/>
          </a:xfrm>
          <a:prstGeom prst="rect">
            <a:avLst/>
          </a:prstGeom>
        </p:spPr>
      </p:pic>
      <p:sp>
        <p:nvSpPr>
          <p:cNvPr id="16" name="Text 11"/>
          <p:cNvSpPr/>
          <p:nvPr/>
        </p:nvSpPr>
        <p:spPr>
          <a:xfrm>
            <a:off x="3227832" y="2606040"/>
            <a:ext cx="2697480" cy="347472"/>
          </a:xfrm>
          <a:prstGeom prst="rect">
            <a:avLst/>
          </a:prstGeom>
          <a:noFill/>
          <a:ln/>
        </p:spPr>
        <p:txBody>
          <a:bodyPr wrap="square" lIns="0" tIns="0" rIns="0" bIns="0" rtlCol="0" anchor="ctr"/>
          <a:lstStyle/>
          <a:p>
            <a:pPr algn="ctr" indent="0" marL="0">
              <a:buNone/>
            </a:pPr>
            <a:r>
              <a:rPr lang="en-US" sz="1600" b="1" dirty="0">
                <a:solidFill>
                  <a:srgbClr val="26A69A"/>
                </a:solidFill>
                <a:latin typeface="Calibri" pitchFamily="34" charset="0"/>
                <a:ea typeface="Calibri" pitchFamily="34" charset="-122"/>
                <a:cs typeface="Calibri" pitchFamily="34" charset="-120"/>
              </a:rPr>
              <a:t>Instruction</a:t>
            </a:r>
            <a:endParaRPr lang="en-US" sz="1600" dirty="0"/>
          </a:p>
        </p:txBody>
      </p:sp>
      <p:sp>
        <p:nvSpPr>
          <p:cNvPr id="17" name="Text 12"/>
          <p:cNvSpPr/>
          <p:nvPr/>
        </p:nvSpPr>
        <p:spPr>
          <a:xfrm>
            <a:off x="3364992" y="3017520"/>
            <a:ext cx="2423160" cy="1645920"/>
          </a:xfrm>
          <a:prstGeom prst="rect">
            <a:avLst/>
          </a:prstGeom>
          <a:noFill/>
          <a:ln/>
        </p:spPr>
        <p:txBody>
          <a:bodyPr wrap="square" lIns="0" tIns="0" rIns="0" bIns="0" rtlCol="0" anchor="ctr"/>
          <a:lstStyle/>
          <a:p>
            <a:pPr indent="0" marL="0">
              <a:buNone/>
            </a:pPr>
            <a:r>
              <a:rPr lang="en-US" sz="1200" dirty="0">
                <a:solidFill>
                  <a:srgbClr val="1C2B3A"/>
                </a:solidFill>
                <a:latin typeface="Calibri" pitchFamily="34" charset="0"/>
                <a:ea typeface="Calibri" pitchFamily="34" charset="-122"/>
                <a:cs typeface="Calibri" pitchFamily="34" charset="-120"/>
              </a:rPr>
              <a:t>Tells the model exactly what task to perform: summarize, translate, write, classify</a:t>
            </a:r>
            <a:endParaRPr lang="en-US" sz="1200" dirty="0"/>
          </a:p>
        </p:txBody>
      </p:sp>
      <p:sp>
        <p:nvSpPr>
          <p:cNvPr id="18" name="Shape 13"/>
          <p:cNvSpPr/>
          <p:nvPr/>
        </p:nvSpPr>
        <p:spPr>
          <a:xfrm>
            <a:off x="6135624" y="1828800"/>
            <a:ext cx="2697480" cy="2971800"/>
          </a:xfrm>
          <a:prstGeom prst="roundRect">
            <a:avLst>
              <a:gd name="adj" fmla="val 3390"/>
            </a:avLst>
          </a:prstGeom>
          <a:solidFill>
            <a:srgbClr val="FFFFFF"/>
          </a:solidFill>
          <a:ln/>
          <a:effectLst>
            <a:outerShdw sx="100000" sy="100000" kx="0" ky="0" algn="bl" rotWithShape="0" blurRad="101600" dist="38100" dir="2700000">
              <a:srgbClr val="000000">
                <a:alpha val="12000"/>
              </a:srgbClr>
            </a:outerShdw>
          </a:effectLst>
        </p:spPr>
      </p:sp>
      <p:sp>
        <p:nvSpPr>
          <p:cNvPr id="19" name="Shape 14"/>
          <p:cNvSpPr/>
          <p:nvPr/>
        </p:nvSpPr>
        <p:spPr>
          <a:xfrm>
            <a:off x="7187184" y="1938528"/>
            <a:ext cx="594360" cy="594360"/>
          </a:xfrm>
          <a:prstGeom prst="ellipse">
            <a:avLst/>
          </a:prstGeom>
          <a:solidFill>
            <a:srgbClr val="00BCD4"/>
          </a:solidFill>
          <a:ln/>
        </p:spPr>
      </p:sp>
      <p:pic>
        <p:nvPicPr>
          <p:cNvPr id="20" name="Image 3" descr="preencoded.png">    </p:cNvPr>
          <p:cNvPicPr>
            <a:picLocks noChangeAspect="1"/>
          </p:cNvPicPr>
          <p:nvPr/>
        </p:nvPicPr>
        <p:blipFill>
          <a:blip r:embed="rId4"/>
          <a:stretch>
            <a:fillRect/>
          </a:stretch>
        </p:blipFill>
        <p:spPr>
          <a:xfrm>
            <a:off x="7251192" y="2002536"/>
            <a:ext cx="466344" cy="466344"/>
          </a:xfrm>
          <a:prstGeom prst="rect">
            <a:avLst/>
          </a:prstGeom>
        </p:spPr>
      </p:pic>
      <p:sp>
        <p:nvSpPr>
          <p:cNvPr id="21" name="Text 15"/>
          <p:cNvSpPr/>
          <p:nvPr/>
        </p:nvSpPr>
        <p:spPr>
          <a:xfrm>
            <a:off x="6135624" y="2606040"/>
            <a:ext cx="2697480" cy="347472"/>
          </a:xfrm>
          <a:prstGeom prst="rect">
            <a:avLst/>
          </a:prstGeom>
          <a:noFill/>
          <a:ln/>
        </p:spPr>
        <p:txBody>
          <a:bodyPr wrap="square" lIns="0" tIns="0" rIns="0" bIns="0" rtlCol="0" anchor="ctr"/>
          <a:lstStyle/>
          <a:p>
            <a:pPr algn="ctr" indent="0" marL="0">
              <a:buNone/>
            </a:pPr>
            <a:r>
              <a:rPr lang="en-US" sz="1600" b="1" dirty="0">
                <a:solidFill>
                  <a:srgbClr val="00BCD4"/>
                </a:solidFill>
                <a:latin typeface="Calibri" pitchFamily="34" charset="0"/>
                <a:ea typeface="Calibri" pitchFamily="34" charset="-122"/>
                <a:cs typeface="Calibri" pitchFamily="34" charset="-120"/>
              </a:rPr>
              <a:t>Format</a:t>
            </a:r>
            <a:endParaRPr lang="en-US" sz="1600" dirty="0"/>
          </a:p>
        </p:txBody>
      </p:sp>
      <p:sp>
        <p:nvSpPr>
          <p:cNvPr id="22" name="Text 16"/>
          <p:cNvSpPr/>
          <p:nvPr/>
        </p:nvSpPr>
        <p:spPr>
          <a:xfrm>
            <a:off x="6272784" y="3017520"/>
            <a:ext cx="2423160" cy="1645920"/>
          </a:xfrm>
          <a:prstGeom prst="rect">
            <a:avLst/>
          </a:prstGeom>
          <a:noFill/>
          <a:ln/>
        </p:spPr>
        <p:txBody>
          <a:bodyPr wrap="square" lIns="0" tIns="0" rIns="0" bIns="0" rtlCol="0" anchor="ctr"/>
          <a:lstStyle/>
          <a:p>
            <a:pPr indent="0" marL="0">
              <a:buNone/>
            </a:pPr>
            <a:r>
              <a:rPr lang="en-US" sz="1200" dirty="0">
                <a:solidFill>
                  <a:srgbClr val="1C2B3A"/>
                </a:solidFill>
                <a:latin typeface="Calibri" pitchFamily="34" charset="0"/>
                <a:ea typeface="Calibri" pitchFamily="34" charset="-122"/>
                <a:cs typeface="Calibri" pitchFamily="34" charset="-120"/>
              </a:rPr>
              <a:t>Specifies output structure: bullet list, JSON, email format, paragraph, table</a:t>
            </a:r>
            <a:endParaRPr lang="en-US" sz="1200" dirty="0"/>
          </a:p>
        </p:txBody>
      </p:sp>
      <p:sp>
        <p:nvSpPr>
          <p:cNvPr id="23" name="Shape 17"/>
          <p:cNvSpPr/>
          <p:nvPr/>
        </p:nvSpPr>
        <p:spPr>
          <a:xfrm>
            <a:off x="320040" y="4754880"/>
            <a:ext cx="8503920" cy="292608"/>
          </a:xfrm>
          <a:prstGeom prst="roundRect">
            <a:avLst>
              <a:gd name="adj" fmla="val 15625"/>
            </a:avLst>
          </a:prstGeom>
          <a:solidFill>
            <a:srgbClr val="00BCD4">
              <a:alpha val="20000"/>
            </a:srgbClr>
          </a:solidFill>
          <a:ln/>
        </p:spPr>
      </p:sp>
      <p:sp>
        <p:nvSpPr>
          <p:cNvPr id="24" name="Text 18"/>
          <p:cNvSpPr/>
          <p:nvPr/>
        </p:nvSpPr>
        <p:spPr>
          <a:xfrm>
            <a:off x="457200" y="4764024"/>
            <a:ext cx="8229600" cy="274320"/>
          </a:xfrm>
          <a:prstGeom prst="rect">
            <a:avLst/>
          </a:prstGeom>
          <a:noFill/>
          <a:ln/>
        </p:spPr>
        <p:txBody>
          <a:bodyPr wrap="square" lIns="0" tIns="0" rIns="0" bIns="0"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Key Insight: The quality of the prompt directly determines the quality of the model's output. Garbage in = Garbage out.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3935"/>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E53935"/>
                </a:solidFill>
                <a:latin typeface="Calibri" pitchFamily="34" charset="0"/>
                <a:ea typeface="Calibri" pitchFamily="34" charset="-122"/>
                <a:cs typeface="Calibri" pitchFamily="34" charset="-120"/>
              </a:rPr>
              <a:t>The Problem with Regular Prompting</a:t>
            </a:r>
            <a:endParaRPr lang="en-US" sz="26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03  |  Root Cause Analysis</a:t>
            </a:r>
            <a:endParaRPr lang="en-US" sz="1000" dirty="0"/>
          </a:p>
        </p:txBody>
      </p:sp>
      <p:sp>
        <p:nvSpPr>
          <p:cNvPr id="5" name="Shape 3"/>
          <p:cNvSpPr/>
          <p:nvPr/>
        </p:nvSpPr>
        <p:spPr>
          <a:xfrm>
            <a:off x="320040" y="914400"/>
            <a:ext cx="3657600" cy="3886200"/>
          </a:xfrm>
          <a:prstGeom prst="roundRect">
            <a:avLst>
              <a:gd name="adj" fmla="val 2500"/>
            </a:avLst>
          </a:prstGeom>
          <a:solidFill>
            <a:srgbClr val="FFF3F3"/>
          </a:solidFill>
          <a:ln/>
          <a:effectLst>
            <a:outerShdw sx="100000" sy="100000" kx="0" ky="0" algn="bl" rotWithShape="0" blurRad="101600" dist="38100" dir="27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1600200" y="1024128"/>
            <a:ext cx="502920" cy="502920"/>
          </a:xfrm>
          <a:prstGeom prst="rect">
            <a:avLst/>
          </a:prstGeom>
        </p:spPr>
      </p:pic>
      <p:sp>
        <p:nvSpPr>
          <p:cNvPr id="7" name="Text 4"/>
          <p:cNvSpPr/>
          <p:nvPr/>
        </p:nvSpPr>
        <p:spPr>
          <a:xfrm>
            <a:off x="411480" y="1572768"/>
            <a:ext cx="3474720" cy="320040"/>
          </a:xfrm>
          <a:prstGeom prst="rect">
            <a:avLst/>
          </a:prstGeom>
          <a:noFill/>
          <a:ln/>
        </p:spPr>
        <p:txBody>
          <a:bodyPr wrap="square" lIns="0" tIns="0" rIns="0" bIns="0" rtlCol="0" anchor="ctr"/>
          <a:lstStyle/>
          <a:p>
            <a:pPr algn="ctr" indent="0" marL="0">
              <a:buNone/>
            </a:pPr>
            <a:r>
              <a:rPr lang="en-US" sz="1400" b="1" dirty="0">
                <a:solidFill>
                  <a:srgbClr val="E53935"/>
                </a:solidFill>
                <a:latin typeface="Calibri" pitchFamily="34" charset="0"/>
                <a:ea typeface="Calibri" pitchFamily="34" charset="-122"/>
                <a:cs typeface="Calibri" pitchFamily="34" charset="-120"/>
              </a:rPr>
              <a:t>How Users Typically Prompt</a:t>
            </a:r>
            <a:endParaRPr lang="en-US" sz="1400" dirty="0"/>
          </a:p>
        </p:txBody>
      </p:sp>
      <p:sp>
        <p:nvSpPr>
          <p:cNvPr id="8" name="Shape 5"/>
          <p:cNvSpPr/>
          <p:nvPr/>
        </p:nvSpPr>
        <p:spPr>
          <a:xfrm>
            <a:off x="457200" y="1965960"/>
            <a:ext cx="3383280" cy="502920"/>
          </a:xfrm>
          <a:prstGeom prst="roundRect">
            <a:avLst>
              <a:gd name="adj" fmla="val 10909"/>
            </a:avLst>
          </a:prstGeom>
          <a:solidFill>
            <a:srgbClr val="FFE5E5"/>
          </a:solidFill>
          <a:ln/>
        </p:spPr>
      </p:sp>
      <p:sp>
        <p:nvSpPr>
          <p:cNvPr id="9" name="Text 6"/>
          <p:cNvSpPr/>
          <p:nvPr/>
        </p:nvSpPr>
        <p:spPr>
          <a:xfrm>
            <a:off x="548640" y="1965960"/>
            <a:ext cx="3200400" cy="502920"/>
          </a:xfrm>
          <a:prstGeom prst="rect">
            <a:avLst/>
          </a:prstGeom>
          <a:noFill/>
          <a:ln/>
        </p:spPr>
        <p:txBody>
          <a:bodyPr wrap="square" lIns="0" tIns="0" rIns="0" bIns="0" rtlCol="0" anchor="ctr"/>
          <a:lstStyle/>
          <a:p>
            <a:pPr indent="0" marL="0">
              <a:buNone/>
            </a:pPr>
            <a:r>
              <a:rPr lang="en-US" sz="1200" i="1" dirty="0">
                <a:solidFill>
                  <a:srgbClr val="E53935"/>
                </a:solidFill>
                <a:latin typeface="Calibri" pitchFamily="34" charset="0"/>
                <a:ea typeface="Calibri" pitchFamily="34" charset="-122"/>
                <a:cs typeface="Calibri" pitchFamily="34" charset="-120"/>
              </a:rPr>
              <a:t>"Write an email"</a:t>
            </a:r>
            <a:endParaRPr lang="en-US" sz="1200" dirty="0"/>
          </a:p>
        </p:txBody>
      </p:sp>
      <p:sp>
        <p:nvSpPr>
          <p:cNvPr id="10" name="Shape 7"/>
          <p:cNvSpPr/>
          <p:nvPr/>
        </p:nvSpPr>
        <p:spPr>
          <a:xfrm>
            <a:off x="457200" y="2606040"/>
            <a:ext cx="3383280" cy="502920"/>
          </a:xfrm>
          <a:prstGeom prst="roundRect">
            <a:avLst>
              <a:gd name="adj" fmla="val 10909"/>
            </a:avLst>
          </a:prstGeom>
          <a:solidFill>
            <a:srgbClr val="FFE5E5"/>
          </a:solidFill>
          <a:ln/>
        </p:spPr>
      </p:sp>
      <p:sp>
        <p:nvSpPr>
          <p:cNvPr id="11" name="Text 8"/>
          <p:cNvSpPr/>
          <p:nvPr/>
        </p:nvSpPr>
        <p:spPr>
          <a:xfrm>
            <a:off x="548640" y="2606040"/>
            <a:ext cx="3200400" cy="502920"/>
          </a:xfrm>
          <a:prstGeom prst="rect">
            <a:avLst/>
          </a:prstGeom>
          <a:noFill/>
          <a:ln/>
        </p:spPr>
        <p:txBody>
          <a:bodyPr wrap="square" lIns="0" tIns="0" rIns="0" bIns="0" rtlCol="0" anchor="ctr"/>
          <a:lstStyle/>
          <a:p>
            <a:pPr indent="0" marL="0">
              <a:buNone/>
            </a:pPr>
            <a:r>
              <a:rPr lang="en-US" sz="1200" i="1" dirty="0">
                <a:solidFill>
                  <a:srgbClr val="E53935"/>
                </a:solidFill>
                <a:latin typeface="Calibri" pitchFamily="34" charset="0"/>
                <a:ea typeface="Calibri" pitchFamily="34" charset="-122"/>
                <a:cs typeface="Calibri" pitchFamily="34" charset="-120"/>
              </a:rPr>
              <a:t>"Summarize this"</a:t>
            </a:r>
            <a:endParaRPr lang="en-US" sz="1200" dirty="0"/>
          </a:p>
        </p:txBody>
      </p:sp>
      <p:sp>
        <p:nvSpPr>
          <p:cNvPr id="12" name="Shape 9"/>
          <p:cNvSpPr/>
          <p:nvPr/>
        </p:nvSpPr>
        <p:spPr>
          <a:xfrm>
            <a:off x="457200" y="3246120"/>
            <a:ext cx="3383280" cy="502920"/>
          </a:xfrm>
          <a:prstGeom prst="roundRect">
            <a:avLst>
              <a:gd name="adj" fmla="val 10909"/>
            </a:avLst>
          </a:prstGeom>
          <a:solidFill>
            <a:srgbClr val="FFE5E5"/>
          </a:solidFill>
          <a:ln/>
        </p:spPr>
      </p:sp>
      <p:sp>
        <p:nvSpPr>
          <p:cNvPr id="13" name="Text 10"/>
          <p:cNvSpPr/>
          <p:nvPr/>
        </p:nvSpPr>
        <p:spPr>
          <a:xfrm>
            <a:off x="548640" y="3246120"/>
            <a:ext cx="3200400" cy="502920"/>
          </a:xfrm>
          <a:prstGeom prst="rect">
            <a:avLst/>
          </a:prstGeom>
          <a:noFill/>
          <a:ln/>
        </p:spPr>
        <p:txBody>
          <a:bodyPr wrap="square" lIns="0" tIns="0" rIns="0" bIns="0" rtlCol="0" anchor="ctr"/>
          <a:lstStyle/>
          <a:p>
            <a:pPr indent="0" marL="0">
              <a:buNone/>
            </a:pPr>
            <a:r>
              <a:rPr lang="en-US" sz="1200" i="1" dirty="0">
                <a:solidFill>
                  <a:srgbClr val="E53935"/>
                </a:solidFill>
                <a:latin typeface="Calibri" pitchFamily="34" charset="0"/>
                <a:ea typeface="Calibri" pitchFamily="34" charset="-122"/>
                <a:cs typeface="Calibri" pitchFamily="34" charset="-120"/>
              </a:rPr>
              <a:t>"Reply to the customer"</a:t>
            </a:r>
            <a:endParaRPr lang="en-US" sz="1200" dirty="0"/>
          </a:p>
        </p:txBody>
      </p:sp>
      <p:sp>
        <p:nvSpPr>
          <p:cNvPr id="14" name="Shape 11"/>
          <p:cNvSpPr/>
          <p:nvPr/>
        </p:nvSpPr>
        <p:spPr>
          <a:xfrm>
            <a:off x="457200" y="3886200"/>
            <a:ext cx="3383280" cy="502920"/>
          </a:xfrm>
          <a:prstGeom prst="roundRect">
            <a:avLst>
              <a:gd name="adj" fmla="val 10909"/>
            </a:avLst>
          </a:prstGeom>
          <a:solidFill>
            <a:srgbClr val="FFE5E5"/>
          </a:solidFill>
          <a:ln/>
        </p:spPr>
      </p:sp>
      <p:sp>
        <p:nvSpPr>
          <p:cNvPr id="15" name="Text 12"/>
          <p:cNvSpPr/>
          <p:nvPr/>
        </p:nvSpPr>
        <p:spPr>
          <a:xfrm>
            <a:off x="548640" y="3886200"/>
            <a:ext cx="3200400" cy="502920"/>
          </a:xfrm>
          <a:prstGeom prst="rect">
            <a:avLst/>
          </a:prstGeom>
          <a:noFill/>
          <a:ln/>
        </p:spPr>
        <p:txBody>
          <a:bodyPr wrap="square" lIns="0" tIns="0" rIns="0" bIns="0" rtlCol="0" anchor="ctr"/>
          <a:lstStyle/>
          <a:p>
            <a:pPr indent="0" marL="0">
              <a:buNone/>
            </a:pPr>
            <a:r>
              <a:rPr lang="en-US" sz="1200" i="1" dirty="0">
                <a:solidFill>
                  <a:srgbClr val="E53935"/>
                </a:solidFill>
                <a:latin typeface="Calibri" pitchFamily="34" charset="0"/>
                <a:ea typeface="Calibri" pitchFamily="34" charset="-122"/>
                <a:cs typeface="Calibri" pitchFamily="34" charset="-120"/>
              </a:rPr>
              <a:t>"Make it professional"</a:t>
            </a:r>
            <a:endParaRPr lang="en-US" sz="1200" dirty="0"/>
          </a:p>
        </p:txBody>
      </p:sp>
      <p:sp>
        <p:nvSpPr>
          <p:cNvPr id="16" name="Shape 13"/>
          <p:cNvSpPr/>
          <p:nvPr/>
        </p:nvSpPr>
        <p:spPr>
          <a:xfrm>
            <a:off x="4206240" y="914400"/>
            <a:ext cx="2103120" cy="1188720"/>
          </a:xfrm>
          <a:prstGeom prst="roundRect">
            <a:avLst>
              <a:gd name="adj" fmla="val 6154"/>
            </a:avLst>
          </a:prstGeom>
          <a:solidFill>
            <a:srgbClr val="FFFFFF"/>
          </a:solidFill>
          <a:ln/>
          <a:effectLst>
            <a:outerShdw sx="100000" sy="100000" kx="0" ky="0" algn="bl" rotWithShape="0" blurRad="101600" dist="38100" dir="2700000">
              <a:srgbClr val="000000">
                <a:alpha val="12000"/>
              </a:srgbClr>
            </a:outerShdw>
          </a:effectLst>
        </p:spPr>
      </p:sp>
      <p:pic>
        <p:nvPicPr>
          <p:cNvPr id="17" name="Image 1" descr="preencoded.png">    </p:cNvPr>
          <p:cNvPicPr>
            <a:picLocks noChangeAspect="1"/>
          </p:cNvPicPr>
          <p:nvPr/>
        </p:nvPicPr>
        <p:blipFill>
          <a:blip r:embed="rId2"/>
          <a:stretch>
            <a:fillRect/>
          </a:stretch>
        </p:blipFill>
        <p:spPr>
          <a:xfrm>
            <a:off x="4297680" y="1005840"/>
            <a:ext cx="320040" cy="320040"/>
          </a:xfrm>
          <a:prstGeom prst="rect">
            <a:avLst/>
          </a:prstGeom>
        </p:spPr>
      </p:pic>
      <p:sp>
        <p:nvSpPr>
          <p:cNvPr id="18" name="Text 14"/>
          <p:cNvSpPr/>
          <p:nvPr/>
        </p:nvSpPr>
        <p:spPr>
          <a:xfrm>
            <a:off x="4709160" y="987552"/>
            <a:ext cx="1508760" cy="320040"/>
          </a:xfrm>
          <a:prstGeom prst="rect">
            <a:avLst/>
          </a:prstGeom>
          <a:noFill/>
          <a:ln/>
        </p:spPr>
        <p:txBody>
          <a:bodyPr wrap="square" lIns="0" tIns="0" rIns="0" bIns="0" rtlCol="0" anchor="ctr"/>
          <a:lstStyle/>
          <a:p>
            <a:pPr indent="0" marL="0">
              <a:buNone/>
            </a:pPr>
            <a:r>
              <a:rPr lang="en-US" sz="1100" b="1" dirty="0">
                <a:solidFill>
                  <a:srgbClr val="E53935"/>
                </a:solidFill>
                <a:latin typeface="Calibri" pitchFamily="34" charset="0"/>
                <a:ea typeface="Calibri" pitchFamily="34" charset="-122"/>
                <a:cs typeface="Calibri" pitchFamily="34" charset="-120"/>
              </a:rPr>
              <a:t>Vague Language</a:t>
            </a:r>
            <a:endParaRPr lang="en-US" sz="1100" dirty="0"/>
          </a:p>
        </p:txBody>
      </p:sp>
      <p:sp>
        <p:nvSpPr>
          <p:cNvPr id="19" name="Text 15"/>
          <p:cNvSpPr/>
          <p:nvPr/>
        </p:nvSpPr>
        <p:spPr>
          <a:xfrm>
            <a:off x="4297680" y="1371600"/>
            <a:ext cx="1920240" cy="64008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No context, role, or goal — model guesses intent</a:t>
            </a:r>
            <a:endParaRPr lang="en-US" sz="1000" dirty="0"/>
          </a:p>
        </p:txBody>
      </p:sp>
      <p:sp>
        <p:nvSpPr>
          <p:cNvPr id="20" name="Shape 16"/>
          <p:cNvSpPr/>
          <p:nvPr/>
        </p:nvSpPr>
        <p:spPr>
          <a:xfrm>
            <a:off x="4206240" y="2240280"/>
            <a:ext cx="2103120" cy="1188720"/>
          </a:xfrm>
          <a:prstGeom prst="roundRect">
            <a:avLst>
              <a:gd name="adj" fmla="val 6154"/>
            </a:avLst>
          </a:prstGeom>
          <a:solidFill>
            <a:srgbClr val="FFFFFF"/>
          </a:solidFill>
          <a:ln/>
          <a:effectLst>
            <a:outerShdw sx="100000" sy="100000" kx="0" ky="0" algn="bl" rotWithShape="0" blurRad="101600" dist="38100" dir="2700000">
              <a:srgbClr val="000000">
                <a:alpha val="12000"/>
              </a:srgbClr>
            </a:outerShdw>
          </a:effectLst>
        </p:spPr>
      </p:sp>
      <p:pic>
        <p:nvPicPr>
          <p:cNvPr id="21" name="Image 2" descr="preencoded.png">    </p:cNvPr>
          <p:cNvPicPr>
            <a:picLocks noChangeAspect="1"/>
          </p:cNvPicPr>
          <p:nvPr/>
        </p:nvPicPr>
        <p:blipFill>
          <a:blip r:embed="rId3"/>
          <a:stretch>
            <a:fillRect/>
          </a:stretch>
        </p:blipFill>
        <p:spPr>
          <a:xfrm>
            <a:off x="4297680" y="2331720"/>
            <a:ext cx="320040" cy="320040"/>
          </a:xfrm>
          <a:prstGeom prst="rect">
            <a:avLst/>
          </a:prstGeom>
        </p:spPr>
      </p:pic>
      <p:sp>
        <p:nvSpPr>
          <p:cNvPr id="22" name="Text 17"/>
          <p:cNvSpPr/>
          <p:nvPr/>
        </p:nvSpPr>
        <p:spPr>
          <a:xfrm>
            <a:off x="4709160" y="2313432"/>
            <a:ext cx="1508760" cy="320040"/>
          </a:xfrm>
          <a:prstGeom prst="rect">
            <a:avLst/>
          </a:prstGeom>
          <a:noFill/>
          <a:ln/>
        </p:spPr>
        <p:txBody>
          <a:bodyPr wrap="square" lIns="0" tIns="0" rIns="0" bIns="0" rtlCol="0" anchor="ctr"/>
          <a:lstStyle/>
          <a:p>
            <a:pPr indent="0" marL="0">
              <a:buNone/>
            </a:pPr>
            <a:r>
              <a:rPr lang="en-US" sz="1100" b="1" dirty="0">
                <a:solidFill>
                  <a:srgbClr val="E53935"/>
                </a:solidFill>
                <a:latin typeface="Calibri" pitchFamily="34" charset="0"/>
                <a:ea typeface="Calibri" pitchFamily="34" charset="-122"/>
                <a:cs typeface="Calibri" pitchFamily="34" charset="-120"/>
              </a:rPr>
              <a:t>Missing Constraints</a:t>
            </a:r>
            <a:endParaRPr lang="en-US" sz="1100" dirty="0"/>
          </a:p>
        </p:txBody>
      </p:sp>
      <p:sp>
        <p:nvSpPr>
          <p:cNvPr id="23" name="Text 18"/>
          <p:cNvSpPr/>
          <p:nvPr/>
        </p:nvSpPr>
        <p:spPr>
          <a:xfrm>
            <a:off x="4297680" y="2697480"/>
            <a:ext cx="1920240" cy="64008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No length, tone, or format guidance specified</a:t>
            </a:r>
            <a:endParaRPr lang="en-US" sz="1000" dirty="0"/>
          </a:p>
        </p:txBody>
      </p:sp>
      <p:sp>
        <p:nvSpPr>
          <p:cNvPr id="24" name="Shape 19"/>
          <p:cNvSpPr/>
          <p:nvPr/>
        </p:nvSpPr>
        <p:spPr>
          <a:xfrm>
            <a:off x="4206240" y="3566160"/>
            <a:ext cx="2103120" cy="1188720"/>
          </a:xfrm>
          <a:prstGeom prst="roundRect">
            <a:avLst>
              <a:gd name="adj" fmla="val 6154"/>
            </a:avLst>
          </a:prstGeom>
          <a:solidFill>
            <a:srgbClr val="FFFFFF"/>
          </a:solidFill>
          <a:ln/>
          <a:effectLst>
            <a:outerShdw sx="100000" sy="100000" kx="0" ky="0" algn="bl" rotWithShape="0" blurRad="101600" dist="38100" dir="2700000">
              <a:srgbClr val="000000">
                <a:alpha val="12000"/>
              </a:srgbClr>
            </a:outerShdw>
          </a:effectLst>
        </p:spPr>
      </p:sp>
      <p:pic>
        <p:nvPicPr>
          <p:cNvPr id="25" name="Image 3" descr="preencoded.png">    </p:cNvPr>
          <p:cNvPicPr>
            <a:picLocks noChangeAspect="1"/>
          </p:cNvPicPr>
          <p:nvPr/>
        </p:nvPicPr>
        <p:blipFill>
          <a:blip r:embed="rId4"/>
          <a:stretch>
            <a:fillRect/>
          </a:stretch>
        </p:blipFill>
        <p:spPr>
          <a:xfrm>
            <a:off x="4297680" y="3657600"/>
            <a:ext cx="320040" cy="320040"/>
          </a:xfrm>
          <a:prstGeom prst="rect">
            <a:avLst/>
          </a:prstGeom>
        </p:spPr>
      </p:pic>
      <p:sp>
        <p:nvSpPr>
          <p:cNvPr id="26" name="Text 20"/>
          <p:cNvSpPr/>
          <p:nvPr/>
        </p:nvSpPr>
        <p:spPr>
          <a:xfrm>
            <a:off x="4709160" y="3639312"/>
            <a:ext cx="1508760" cy="320040"/>
          </a:xfrm>
          <a:prstGeom prst="rect">
            <a:avLst/>
          </a:prstGeom>
          <a:noFill/>
          <a:ln/>
        </p:spPr>
        <p:txBody>
          <a:bodyPr wrap="square" lIns="0" tIns="0" rIns="0" bIns="0" rtlCol="0" anchor="ctr"/>
          <a:lstStyle/>
          <a:p>
            <a:pPr indent="0" marL="0">
              <a:buNone/>
            </a:pPr>
            <a:r>
              <a:rPr lang="en-US" sz="1100" b="1" dirty="0">
                <a:solidFill>
                  <a:srgbClr val="E53935"/>
                </a:solidFill>
                <a:latin typeface="Calibri" pitchFamily="34" charset="0"/>
                <a:ea typeface="Calibri" pitchFamily="34" charset="-122"/>
                <a:cs typeface="Calibri" pitchFamily="34" charset="-120"/>
              </a:rPr>
              <a:t>No Domain Context</a:t>
            </a:r>
            <a:endParaRPr lang="en-US" sz="1100" dirty="0"/>
          </a:p>
        </p:txBody>
      </p:sp>
      <p:sp>
        <p:nvSpPr>
          <p:cNvPr id="27" name="Text 21"/>
          <p:cNvSpPr/>
          <p:nvPr/>
        </p:nvSpPr>
        <p:spPr>
          <a:xfrm>
            <a:off x="4297680" y="4023360"/>
            <a:ext cx="1920240" cy="64008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Business-specific terminology not provided</a:t>
            </a:r>
            <a:endParaRPr lang="en-US" sz="1000" dirty="0"/>
          </a:p>
        </p:txBody>
      </p:sp>
      <p:sp>
        <p:nvSpPr>
          <p:cNvPr id="28" name="Shape 22"/>
          <p:cNvSpPr/>
          <p:nvPr/>
        </p:nvSpPr>
        <p:spPr>
          <a:xfrm>
            <a:off x="6537960" y="914400"/>
            <a:ext cx="2103120" cy="1188720"/>
          </a:xfrm>
          <a:prstGeom prst="roundRect">
            <a:avLst>
              <a:gd name="adj" fmla="val 6154"/>
            </a:avLst>
          </a:prstGeom>
          <a:solidFill>
            <a:srgbClr val="FFFFFF"/>
          </a:solidFill>
          <a:ln/>
          <a:effectLst>
            <a:outerShdw sx="100000" sy="100000" kx="0" ky="0" algn="bl" rotWithShape="0" blurRad="101600" dist="38100" dir="2700000">
              <a:srgbClr val="000000">
                <a:alpha val="12000"/>
              </a:srgbClr>
            </a:outerShdw>
          </a:effectLst>
        </p:spPr>
      </p:sp>
      <p:pic>
        <p:nvPicPr>
          <p:cNvPr id="29" name="Image 4" descr="preencoded.png">    </p:cNvPr>
          <p:cNvPicPr>
            <a:picLocks noChangeAspect="1"/>
          </p:cNvPicPr>
          <p:nvPr/>
        </p:nvPicPr>
        <p:blipFill>
          <a:blip r:embed="rId5"/>
          <a:stretch>
            <a:fillRect/>
          </a:stretch>
        </p:blipFill>
        <p:spPr>
          <a:xfrm>
            <a:off x="6629400" y="1005840"/>
            <a:ext cx="320040" cy="320040"/>
          </a:xfrm>
          <a:prstGeom prst="rect">
            <a:avLst/>
          </a:prstGeom>
        </p:spPr>
      </p:pic>
      <p:sp>
        <p:nvSpPr>
          <p:cNvPr id="30" name="Text 23"/>
          <p:cNvSpPr/>
          <p:nvPr/>
        </p:nvSpPr>
        <p:spPr>
          <a:xfrm>
            <a:off x="7040880" y="987552"/>
            <a:ext cx="1508760" cy="320040"/>
          </a:xfrm>
          <a:prstGeom prst="rect">
            <a:avLst/>
          </a:prstGeom>
          <a:noFill/>
          <a:ln/>
        </p:spPr>
        <p:txBody>
          <a:bodyPr wrap="square" lIns="0" tIns="0" rIns="0" bIns="0" rtlCol="0" anchor="ctr"/>
          <a:lstStyle/>
          <a:p>
            <a:pPr indent="0" marL="0">
              <a:buNone/>
            </a:pPr>
            <a:r>
              <a:rPr lang="en-US" sz="1100" b="1" dirty="0">
                <a:solidFill>
                  <a:srgbClr val="E53935"/>
                </a:solidFill>
                <a:latin typeface="Calibri" pitchFamily="34" charset="0"/>
                <a:ea typeface="Calibri" pitchFamily="34" charset="-122"/>
                <a:cs typeface="Calibri" pitchFamily="34" charset="-120"/>
              </a:rPr>
              <a:t>Inconsistency</a:t>
            </a:r>
            <a:endParaRPr lang="en-US" sz="1100" dirty="0"/>
          </a:p>
        </p:txBody>
      </p:sp>
      <p:sp>
        <p:nvSpPr>
          <p:cNvPr id="31" name="Text 24"/>
          <p:cNvSpPr/>
          <p:nvPr/>
        </p:nvSpPr>
        <p:spPr>
          <a:xfrm>
            <a:off x="6629400" y="1371600"/>
            <a:ext cx="1920240" cy="64008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Same prompt gives different outputs each time</a:t>
            </a:r>
            <a:endParaRPr lang="en-US" sz="1000" dirty="0"/>
          </a:p>
        </p:txBody>
      </p:sp>
      <p:sp>
        <p:nvSpPr>
          <p:cNvPr id="32" name="Shape 25"/>
          <p:cNvSpPr/>
          <p:nvPr/>
        </p:nvSpPr>
        <p:spPr>
          <a:xfrm>
            <a:off x="6537960" y="2240280"/>
            <a:ext cx="2103120" cy="1188720"/>
          </a:xfrm>
          <a:prstGeom prst="roundRect">
            <a:avLst>
              <a:gd name="adj" fmla="val 6154"/>
            </a:avLst>
          </a:prstGeom>
          <a:solidFill>
            <a:srgbClr val="FFFFFF"/>
          </a:solidFill>
          <a:ln/>
          <a:effectLst>
            <a:outerShdw sx="100000" sy="100000" kx="0" ky="0" algn="bl" rotWithShape="0" blurRad="101600" dist="38100" dir="2700000">
              <a:srgbClr val="000000">
                <a:alpha val="12000"/>
              </a:srgbClr>
            </a:outerShdw>
          </a:effectLst>
        </p:spPr>
      </p:sp>
      <p:pic>
        <p:nvPicPr>
          <p:cNvPr id="33" name="Image 5" descr="preencoded.png">    </p:cNvPr>
          <p:cNvPicPr>
            <a:picLocks noChangeAspect="1"/>
          </p:cNvPicPr>
          <p:nvPr/>
        </p:nvPicPr>
        <p:blipFill>
          <a:blip r:embed="rId6"/>
          <a:stretch>
            <a:fillRect/>
          </a:stretch>
        </p:blipFill>
        <p:spPr>
          <a:xfrm>
            <a:off x="6629400" y="2331720"/>
            <a:ext cx="320040" cy="320040"/>
          </a:xfrm>
          <a:prstGeom prst="rect">
            <a:avLst/>
          </a:prstGeom>
        </p:spPr>
      </p:pic>
      <p:sp>
        <p:nvSpPr>
          <p:cNvPr id="34" name="Text 26"/>
          <p:cNvSpPr/>
          <p:nvPr/>
        </p:nvSpPr>
        <p:spPr>
          <a:xfrm>
            <a:off x="7040880" y="2313432"/>
            <a:ext cx="1508760" cy="320040"/>
          </a:xfrm>
          <a:prstGeom prst="rect">
            <a:avLst/>
          </a:prstGeom>
          <a:noFill/>
          <a:ln/>
        </p:spPr>
        <p:txBody>
          <a:bodyPr wrap="square" lIns="0" tIns="0" rIns="0" bIns="0" rtlCol="0" anchor="ctr"/>
          <a:lstStyle/>
          <a:p>
            <a:pPr indent="0" marL="0">
              <a:buNone/>
            </a:pPr>
            <a:r>
              <a:rPr lang="en-US" sz="1100" b="1" dirty="0">
                <a:solidFill>
                  <a:srgbClr val="E53935"/>
                </a:solidFill>
                <a:latin typeface="Calibri" pitchFamily="34" charset="0"/>
                <a:ea typeface="Calibri" pitchFamily="34" charset="-122"/>
                <a:cs typeface="Calibri" pitchFamily="34" charset="-120"/>
              </a:rPr>
              <a:t>Hallucination Risk</a:t>
            </a:r>
            <a:endParaRPr lang="en-US" sz="1100" dirty="0"/>
          </a:p>
        </p:txBody>
      </p:sp>
      <p:sp>
        <p:nvSpPr>
          <p:cNvPr id="35" name="Text 27"/>
          <p:cNvSpPr/>
          <p:nvPr/>
        </p:nvSpPr>
        <p:spPr>
          <a:xfrm>
            <a:off x="6629400" y="2697480"/>
            <a:ext cx="1920240" cy="64008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Ambiguous prompts increase fabricated responses</a:t>
            </a:r>
            <a:endParaRPr lang="en-US" sz="1000" dirty="0"/>
          </a:p>
        </p:txBody>
      </p:sp>
      <p:sp>
        <p:nvSpPr>
          <p:cNvPr id="36" name="Shape 28"/>
          <p:cNvSpPr/>
          <p:nvPr/>
        </p:nvSpPr>
        <p:spPr>
          <a:xfrm>
            <a:off x="6537960" y="3566160"/>
            <a:ext cx="2103120" cy="1188720"/>
          </a:xfrm>
          <a:prstGeom prst="roundRect">
            <a:avLst>
              <a:gd name="adj" fmla="val 6154"/>
            </a:avLst>
          </a:prstGeom>
          <a:solidFill>
            <a:srgbClr val="FFFFFF"/>
          </a:solidFill>
          <a:ln/>
          <a:effectLst>
            <a:outerShdw sx="100000" sy="100000" kx="0" ky="0" algn="bl" rotWithShape="0" blurRad="101600" dist="38100" dir="2700000">
              <a:srgbClr val="000000">
                <a:alpha val="12000"/>
              </a:srgbClr>
            </a:outerShdw>
          </a:effectLst>
        </p:spPr>
      </p:sp>
      <p:pic>
        <p:nvPicPr>
          <p:cNvPr id="37" name="Image 6" descr="preencoded.png">    </p:cNvPr>
          <p:cNvPicPr>
            <a:picLocks noChangeAspect="1"/>
          </p:cNvPicPr>
          <p:nvPr/>
        </p:nvPicPr>
        <p:blipFill>
          <a:blip r:embed="rId7"/>
          <a:stretch>
            <a:fillRect/>
          </a:stretch>
        </p:blipFill>
        <p:spPr>
          <a:xfrm>
            <a:off x="6629400" y="3657600"/>
            <a:ext cx="320040" cy="320040"/>
          </a:xfrm>
          <a:prstGeom prst="rect">
            <a:avLst/>
          </a:prstGeom>
        </p:spPr>
      </p:pic>
      <p:sp>
        <p:nvSpPr>
          <p:cNvPr id="38" name="Text 29"/>
          <p:cNvSpPr/>
          <p:nvPr/>
        </p:nvSpPr>
        <p:spPr>
          <a:xfrm>
            <a:off x="7040880" y="3639312"/>
            <a:ext cx="1508760" cy="320040"/>
          </a:xfrm>
          <a:prstGeom prst="rect">
            <a:avLst/>
          </a:prstGeom>
          <a:noFill/>
          <a:ln/>
        </p:spPr>
        <p:txBody>
          <a:bodyPr wrap="square" lIns="0" tIns="0" rIns="0" bIns="0" rtlCol="0" anchor="ctr"/>
          <a:lstStyle/>
          <a:p>
            <a:pPr indent="0" marL="0">
              <a:buNone/>
            </a:pPr>
            <a:r>
              <a:rPr lang="en-US" sz="1100" b="1" dirty="0">
                <a:solidFill>
                  <a:srgbClr val="E53935"/>
                </a:solidFill>
                <a:latin typeface="Calibri" pitchFamily="34" charset="0"/>
                <a:ea typeface="Calibri" pitchFamily="34" charset="-122"/>
                <a:cs typeface="Calibri" pitchFamily="34" charset="-120"/>
              </a:rPr>
              <a:t>Rework Loops</a:t>
            </a:r>
            <a:endParaRPr lang="en-US" sz="1100" dirty="0"/>
          </a:p>
        </p:txBody>
      </p:sp>
      <p:sp>
        <p:nvSpPr>
          <p:cNvPr id="39" name="Text 30"/>
          <p:cNvSpPr/>
          <p:nvPr/>
        </p:nvSpPr>
        <p:spPr>
          <a:xfrm>
            <a:off x="6629400" y="4023360"/>
            <a:ext cx="1920240" cy="64008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Poor output requires manual correction and retries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6A69A"/>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26A69A"/>
                </a:solidFill>
                <a:latin typeface="Calibri" pitchFamily="34" charset="0"/>
                <a:ea typeface="Calibri" pitchFamily="34" charset="-122"/>
                <a:cs typeface="Calibri" pitchFamily="34" charset="-120"/>
              </a:rPr>
              <a:t>What Makes a Prompt 'Effective'?</a:t>
            </a:r>
            <a:endParaRPr lang="en-US" sz="26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04  |  Principles of High-Quality Prompting</a:t>
            </a:r>
            <a:endParaRPr lang="en-US" sz="1000" dirty="0"/>
          </a:p>
        </p:txBody>
      </p:sp>
      <p:sp>
        <p:nvSpPr>
          <p:cNvPr id="5" name="Shape 3"/>
          <p:cNvSpPr/>
          <p:nvPr/>
        </p:nvSpPr>
        <p:spPr>
          <a:xfrm>
            <a:off x="320040" y="1005840"/>
            <a:ext cx="1554480" cy="379476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777240" y="1115568"/>
            <a:ext cx="640080" cy="640080"/>
          </a:xfrm>
          <a:prstGeom prst="ellipse">
            <a:avLst/>
          </a:prstGeom>
          <a:solidFill>
            <a:srgbClr val="1565C0"/>
          </a:solidFill>
          <a:ln/>
        </p:spPr>
      </p:sp>
      <p:sp>
        <p:nvSpPr>
          <p:cNvPr id="7" name="Text 5"/>
          <p:cNvSpPr/>
          <p:nvPr/>
        </p:nvSpPr>
        <p:spPr>
          <a:xfrm>
            <a:off x="777240" y="11155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365760" y="1874520"/>
            <a:ext cx="1463040" cy="502920"/>
          </a:xfrm>
          <a:prstGeom prst="rect">
            <a:avLst/>
          </a:prstGeom>
          <a:noFill/>
          <a:ln/>
        </p:spPr>
        <p:txBody>
          <a:bodyPr wrap="square" lIns="0" tIns="0" rIns="0" bIns="0" rtlCol="0" anchor="ctr"/>
          <a:lstStyle/>
          <a:p>
            <a:pPr algn="ctr" indent="0" marL="0">
              <a:buNone/>
            </a:pPr>
            <a:r>
              <a:rPr lang="en-US" sz="1200" b="1" dirty="0">
                <a:solidFill>
                  <a:srgbClr val="1565C0"/>
                </a:solidFill>
                <a:latin typeface="Calibri" pitchFamily="34" charset="0"/>
                <a:ea typeface="Calibri" pitchFamily="34" charset="-122"/>
                <a:cs typeface="Calibri" pitchFamily="34" charset="-120"/>
              </a:rPr>
              <a:t>Role Assignment</a:t>
            </a:r>
            <a:endParaRPr lang="en-US" sz="1200" dirty="0"/>
          </a:p>
        </p:txBody>
      </p:sp>
      <p:sp>
        <p:nvSpPr>
          <p:cNvPr id="9" name="Text 7"/>
          <p:cNvSpPr/>
          <p:nvPr/>
        </p:nvSpPr>
        <p:spPr>
          <a:xfrm>
            <a:off x="411480" y="2423160"/>
            <a:ext cx="1371600" cy="22860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Tell the model who it is:</a:t>
            </a:r>
            <a:endParaRPr lang="en-US" sz="1000" dirty="0"/>
          </a:p>
          <a:p>
            <a:pPr indent="0" marL="0">
              <a:buNone/>
            </a:pPr>
            <a:r>
              <a:rPr lang="en-US" sz="1000" dirty="0">
                <a:solidFill>
                  <a:srgbClr val="1C2B3A"/>
                </a:solidFill>
                <a:latin typeface="Calibri" pitchFamily="34" charset="0"/>
                <a:ea typeface="Calibri" pitchFamily="34" charset="-122"/>
                <a:cs typeface="Calibri" pitchFamily="34" charset="-120"/>
              </a:rPr>
              <a:t>"Act as a senior customer service agent..."</a:t>
            </a:r>
            <a:endParaRPr lang="en-US" sz="1000" dirty="0"/>
          </a:p>
        </p:txBody>
      </p:sp>
      <p:sp>
        <p:nvSpPr>
          <p:cNvPr id="10" name="Shape 8"/>
          <p:cNvSpPr/>
          <p:nvPr/>
        </p:nvSpPr>
        <p:spPr>
          <a:xfrm>
            <a:off x="2020824" y="1005840"/>
            <a:ext cx="1554480" cy="379476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2478024" y="1115568"/>
            <a:ext cx="640080" cy="640080"/>
          </a:xfrm>
          <a:prstGeom prst="ellipse">
            <a:avLst/>
          </a:prstGeom>
          <a:solidFill>
            <a:srgbClr val="26A69A"/>
          </a:solidFill>
          <a:ln/>
        </p:spPr>
      </p:sp>
      <p:sp>
        <p:nvSpPr>
          <p:cNvPr id="12" name="Text 10"/>
          <p:cNvSpPr/>
          <p:nvPr/>
        </p:nvSpPr>
        <p:spPr>
          <a:xfrm>
            <a:off x="2478024" y="11155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2066544" y="1874520"/>
            <a:ext cx="1463040" cy="502920"/>
          </a:xfrm>
          <a:prstGeom prst="rect">
            <a:avLst/>
          </a:prstGeom>
          <a:noFill/>
          <a:ln/>
        </p:spPr>
        <p:txBody>
          <a:bodyPr wrap="square" lIns="0" tIns="0" rIns="0" bIns="0" rtlCol="0" anchor="ctr"/>
          <a:lstStyle/>
          <a:p>
            <a:pPr algn="ctr" indent="0" marL="0">
              <a:buNone/>
            </a:pPr>
            <a:r>
              <a:rPr lang="en-US" sz="1200" b="1" dirty="0">
                <a:solidFill>
                  <a:srgbClr val="26A69A"/>
                </a:solidFill>
                <a:latin typeface="Calibri" pitchFamily="34" charset="0"/>
                <a:ea typeface="Calibri" pitchFamily="34" charset="-122"/>
                <a:cs typeface="Calibri" pitchFamily="34" charset="-120"/>
              </a:rPr>
              <a:t>Clear Task</a:t>
            </a:r>
            <a:endParaRPr lang="en-US" sz="1200" dirty="0"/>
          </a:p>
        </p:txBody>
      </p:sp>
      <p:sp>
        <p:nvSpPr>
          <p:cNvPr id="14" name="Text 12"/>
          <p:cNvSpPr/>
          <p:nvPr/>
        </p:nvSpPr>
        <p:spPr>
          <a:xfrm>
            <a:off x="2112264" y="2423160"/>
            <a:ext cx="1371600" cy="22860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Specify the exact action:</a:t>
            </a:r>
            <a:endParaRPr lang="en-US" sz="1000" dirty="0"/>
          </a:p>
          <a:p>
            <a:pPr indent="0" marL="0">
              <a:buNone/>
            </a:pPr>
            <a:r>
              <a:rPr lang="en-US" sz="1000" dirty="0">
                <a:solidFill>
                  <a:srgbClr val="1C2B3A"/>
                </a:solidFill>
                <a:latin typeface="Calibri" pitchFamily="34" charset="0"/>
                <a:ea typeface="Calibri" pitchFamily="34" charset="-122"/>
                <a:cs typeface="Calibri" pitchFamily="34" charset="-120"/>
              </a:rPr>
              <a:t>"Write a formal apology email for a billing error..."</a:t>
            </a:r>
            <a:endParaRPr lang="en-US" sz="1000" dirty="0"/>
          </a:p>
        </p:txBody>
      </p:sp>
      <p:sp>
        <p:nvSpPr>
          <p:cNvPr id="15" name="Shape 13"/>
          <p:cNvSpPr/>
          <p:nvPr/>
        </p:nvSpPr>
        <p:spPr>
          <a:xfrm>
            <a:off x="3721608" y="1005840"/>
            <a:ext cx="1554480" cy="379476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16" name="Shape 14"/>
          <p:cNvSpPr/>
          <p:nvPr/>
        </p:nvSpPr>
        <p:spPr>
          <a:xfrm>
            <a:off x="4178808" y="1115568"/>
            <a:ext cx="640080" cy="640080"/>
          </a:xfrm>
          <a:prstGeom prst="ellipse">
            <a:avLst/>
          </a:prstGeom>
          <a:solidFill>
            <a:srgbClr val="00BCD4"/>
          </a:solidFill>
          <a:ln/>
        </p:spPr>
      </p:sp>
      <p:sp>
        <p:nvSpPr>
          <p:cNvPr id="17" name="Text 15"/>
          <p:cNvSpPr/>
          <p:nvPr/>
        </p:nvSpPr>
        <p:spPr>
          <a:xfrm>
            <a:off x="4178808" y="11155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3767328" y="1874520"/>
            <a:ext cx="1463040" cy="502920"/>
          </a:xfrm>
          <a:prstGeom prst="rect">
            <a:avLst/>
          </a:prstGeom>
          <a:noFill/>
          <a:ln/>
        </p:spPr>
        <p:txBody>
          <a:bodyPr wrap="square" lIns="0" tIns="0" rIns="0" bIns="0" rtlCol="0" anchor="ctr"/>
          <a:lstStyle/>
          <a:p>
            <a:pPr algn="ctr" indent="0" marL="0">
              <a:buNone/>
            </a:pPr>
            <a:r>
              <a:rPr lang="en-US" sz="1200" b="1" dirty="0">
                <a:solidFill>
                  <a:srgbClr val="00BCD4"/>
                </a:solidFill>
                <a:latin typeface="Calibri" pitchFamily="34" charset="0"/>
                <a:ea typeface="Calibri" pitchFamily="34" charset="-122"/>
                <a:cs typeface="Calibri" pitchFamily="34" charset="-120"/>
              </a:rPr>
              <a:t>Context Injection</a:t>
            </a:r>
            <a:endParaRPr lang="en-US" sz="1200" dirty="0"/>
          </a:p>
        </p:txBody>
      </p:sp>
      <p:sp>
        <p:nvSpPr>
          <p:cNvPr id="19" name="Text 17"/>
          <p:cNvSpPr/>
          <p:nvPr/>
        </p:nvSpPr>
        <p:spPr>
          <a:xfrm>
            <a:off x="3813048" y="2423160"/>
            <a:ext cx="1371600" cy="22860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Provide background:</a:t>
            </a:r>
            <a:endParaRPr lang="en-US" sz="1000" dirty="0"/>
          </a:p>
          <a:p>
            <a:pPr indent="0" marL="0">
              <a:buNone/>
            </a:pPr>
            <a:r>
              <a:rPr lang="en-US" sz="1000" dirty="0">
                <a:solidFill>
                  <a:srgbClr val="1C2B3A"/>
                </a:solidFill>
                <a:latin typeface="Calibri" pitchFamily="34" charset="0"/>
                <a:ea typeface="Calibri" pitchFamily="34" charset="-122"/>
                <a:cs typeface="Calibri" pitchFamily="34" charset="-120"/>
              </a:rPr>
              <a:t>"The customer has been with us 5 years, VIP tier..."</a:t>
            </a:r>
            <a:endParaRPr lang="en-US" sz="1000" dirty="0"/>
          </a:p>
        </p:txBody>
      </p:sp>
      <p:sp>
        <p:nvSpPr>
          <p:cNvPr id="20" name="Shape 18"/>
          <p:cNvSpPr/>
          <p:nvPr/>
        </p:nvSpPr>
        <p:spPr>
          <a:xfrm>
            <a:off x="5422392" y="1005840"/>
            <a:ext cx="1554480" cy="379476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21" name="Shape 19"/>
          <p:cNvSpPr/>
          <p:nvPr/>
        </p:nvSpPr>
        <p:spPr>
          <a:xfrm>
            <a:off x="5879592" y="1115568"/>
            <a:ext cx="640080" cy="640080"/>
          </a:xfrm>
          <a:prstGeom prst="ellipse">
            <a:avLst/>
          </a:prstGeom>
          <a:solidFill>
            <a:srgbClr val="F9A825"/>
          </a:solidFill>
          <a:ln/>
        </p:spPr>
      </p:sp>
      <p:sp>
        <p:nvSpPr>
          <p:cNvPr id="22" name="Text 20"/>
          <p:cNvSpPr/>
          <p:nvPr/>
        </p:nvSpPr>
        <p:spPr>
          <a:xfrm>
            <a:off x="5879592" y="11155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5468112" y="1874520"/>
            <a:ext cx="1463040" cy="502920"/>
          </a:xfrm>
          <a:prstGeom prst="rect">
            <a:avLst/>
          </a:prstGeom>
          <a:noFill/>
          <a:ln/>
        </p:spPr>
        <p:txBody>
          <a:bodyPr wrap="square" lIns="0" tIns="0" rIns="0" bIns="0" rtlCol="0" anchor="ctr"/>
          <a:lstStyle/>
          <a:p>
            <a:pPr algn="ctr" indent="0" marL="0">
              <a:buNone/>
            </a:pPr>
            <a:r>
              <a:rPr lang="en-US" sz="1200" b="1" dirty="0">
                <a:solidFill>
                  <a:srgbClr val="F9A825"/>
                </a:solidFill>
                <a:latin typeface="Calibri" pitchFamily="34" charset="0"/>
                <a:ea typeface="Calibri" pitchFamily="34" charset="-122"/>
                <a:cs typeface="Calibri" pitchFamily="34" charset="-120"/>
              </a:rPr>
              <a:t>Format Guidance</a:t>
            </a:r>
            <a:endParaRPr lang="en-US" sz="1200" dirty="0"/>
          </a:p>
        </p:txBody>
      </p:sp>
      <p:sp>
        <p:nvSpPr>
          <p:cNvPr id="24" name="Text 22"/>
          <p:cNvSpPr/>
          <p:nvPr/>
        </p:nvSpPr>
        <p:spPr>
          <a:xfrm>
            <a:off x="5513832" y="2423160"/>
            <a:ext cx="1371600" cy="22860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Define output structure:</a:t>
            </a:r>
            <a:endParaRPr lang="en-US" sz="1000" dirty="0"/>
          </a:p>
          <a:p>
            <a:pPr indent="0" marL="0">
              <a:buNone/>
            </a:pPr>
            <a:r>
              <a:rPr lang="en-US" sz="1000" dirty="0">
                <a:solidFill>
                  <a:srgbClr val="1C2B3A"/>
                </a:solidFill>
                <a:latin typeface="Calibri" pitchFamily="34" charset="0"/>
                <a:ea typeface="Calibri" pitchFamily="34" charset="-122"/>
                <a:cs typeface="Calibri" pitchFamily="34" charset="-120"/>
              </a:rPr>
              <a:t>"Use 3 short paragraphs, formal tone, max 200 words..."</a:t>
            </a:r>
            <a:endParaRPr lang="en-US" sz="1000" dirty="0"/>
          </a:p>
        </p:txBody>
      </p:sp>
      <p:sp>
        <p:nvSpPr>
          <p:cNvPr id="25" name="Shape 23"/>
          <p:cNvSpPr/>
          <p:nvPr/>
        </p:nvSpPr>
        <p:spPr>
          <a:xfrm>
            <a:off x="7123176" y="1005840"/>
            <a:ext cx="1554480" cy="379476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26" name="Shape 24"/>
          <p:cNvSpPr/>
          <p:nvPr/>
        </p:nvSpPr>
        <p:spPr>
          <a:xfrm>
            <a:off x="7580376" y="1115568"/>
            <a:ext cx="640080" cy="640080"/>
          </a:xfrm>
          <a:prstGeom prst="ellipse">
            <a:avLst/>
          </a:prstGeom>
          <a:solidFill>
            <a:srgbClr val="E53935"/>
          </a:solidFill>
          <a:ln/>
        </p:spPr>
      </p:sp>
      <p:sp>
        <p:nvSpPr>
          <p:cNvPr id="27" name="Text 25"/>
          <p:cNvSpPr/>
          <p:nvPr/>
        </p:nvSpPr>
        <p:spPr>
          <a:xfrm>
            <a:off x="7580376" y="11155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8" name="Text 26"/>
          <p:cNvSpPr/>
          <p:nvPr/>
        </p:nvSpPr>
        <p:spPr>
          <a:xfrm>
            <a:off x="7168896" y="1874520"/>
            <a:ext cx="1463040" cy="502920"/>
          </a:xfrm>
          <a:prstGeom prst="rect">
            <a:avLst/>
          </a:prstGeom>
          <a:noFill/>
          <a:ln/>
        </p:spPr>
        <p:txBody>
          <a:bodyPr wrap="square" lIns="0" tIns="0" rIns="0" bIns="0" rtlCol="0" anchor="ctr"/>
          <a:lstStyle/>
          <a:p>
            <a:pPr algn="ctr" indent="0" marL="0">
              <a:buNone/>
            </a:pPr>
            <a:r>
              <a:rPr lang="en-US" sz="1200" b="1" dirty="0">
                <a:solidFill>
                  <a:srgbClr val="E53935"/>
                </a:solidFill>
                <a:latin typeface="Calibri" pitchFamily="34" charset="0"/>
                <a:ea typeface="Calibri" pitchFamily="34" charset="-122"/>
                <a:cs typeface="Calibri" pitchFamily="34" charset="-120"/>
              </a:rPr>
              <a:t>Constraint Setting</a:t>
            </a:r>
            <a:endParaRPr lang="en-US" sz="1200" dirty="0"/>
          </a:p>
        </p:txBody>
      </p:sp>
      <p:sp>
        <p:nvSpPr>
          <p:cNvPr id="29" name="Text 27"/>
          <p:cNvSpPr/>
          <p:nvPr/>
        </p:nvSpPr>
        <p:spPr>
          <a:xfrm>
            <a:off x="7214616" y="2423160"/>
            <a:ext cx="1371600" cy="22860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Add guardrails:</a:t>
            </a:r>
            <a:endParaRPr lang="en-US" sz="1000" dirty="0"/>
          </a:p>
          <a:p>
            <a:pPr indent="0" marL="0">
              <a:buNone/>
            </a:pPr>
            <a:r>
              <a:rPr lang="en-US" sz="1000" dirty="0">
                <a:solidFill>
                  <a:srgbClr val="1C2B3A"/>
                </a:solidFill>
                <a:latin typeface="Calibri" pitchFamily="34" charset="0"/>
                <a:ea typeface="Calibri" pitchFamily="34" charset="-122"/>
                <a:cs typeface="Calibri" pitchFamily="34" charset="-120"/>
              </a:rPr>
              <a:t>"Do not mention pricing. Do not make promises..."</a:t>
            </a:r>
            <a:endParaRPr lang="en-US" sz="1000" dirty="0"/>
          </a:p>
        </p:txBody>
      </p:sp>
      <p:sp>
        <p:nvSpPr>
          <p:cNvPr id="30" name="Shape 28"/>
          <p:cNvSpPr/>
          <p:nvPr/>
        </p:nvSpPr>
        <p:spPr>
          <a:xfrm>
            <a:off x="320040" y="4773168"/>
            <a:ext cx="8503920" cy="274320"/>
          </a:xfrm>
          <a:prstGeom prst="roundRect">
            <a:avLst>
              <a:gd name="adj" fmla="val 16667"/>
            </a:avLst>
          </a:prstGeom>
          <a:solidFill>
            <a:srgbClr val="26A69A">
              <a:alpha val="20000"/>
            </a:srgbClr>
          </a:solidFill>
          <a:ln/>
        </p:spPr>
      </p:sp>
      <p:sp>
        <p:nvSpPr>
          <p:cNvPr id="31" name="Text 29"/>
          <p:cNvSpPr/>
          <p:nvPr/>
        </p:nvSpPr>
        <p:spPr>
          <a:xfrm>
            <a:off x="457200" y="4782312"/>
            <a:ext cx="8229600" cy="256032"/>
          </a:xfrm>
          <a:prstGeom prst="rect">
            <a:avLst/>
          </a:prstGeom>
          <a:noFill/>
          <a:ln/>
        </p:spPr>
        <p:txBody>
          <a:bodyPr wrap="square" lIns="0" tIns="0" rIns="0" bIns="0" rtlCol="0" anchor="ctr"/>
          <a:lstStyle/>
          <a:p>
            <a:pPr indent="0" marL="0">
              <a:buNone/>
            </a:pPr>
            <a:r>
              <a:rPr lang="en-US" sz="1100" b="1" dirty="0">
                <a:solidFill>
                  <a:srgbClr val="26A69A"/>
                </a:solidFill>
                <a:latin typeface="Calibri" pitchFamily="34" charset="0"/>
                <a:ea typeface="Calibri" pitchFamily="34" charset="-122"/>
                <a:cs typeface="Calibri" pitchFamily="34" charset="-120"/>
              </a:rPr>
              <a:t>✅  An effective prompt is structured like a mini-brief: Role + Task + Context + Format + Constraints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Introducing: LLM-Based Prompt Optimization</a:t>
            </a:r>
            <a:endParaRPr lang="en-US" sz="24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7B9DB4"/>
                </a:solidFill>
                <a:latin typeface="Calibri" pitchFamily="34" charset="0"/>
                <a:ea typeface="Calibri" pitchFamily="34" charset="-122"/>
                <a:cs typeface="Calibri" pitchFamily="34" charset="-120"/>
              </a:rPr>
              <a:t>Slide 05  |  The Solution</a:t>
            </a:r>
            <a:endParaRPr lang="en-US" sz="1000" dirty="0"/>
          </a:p>
        </p:txBody>
      </p:sp>
      <p:sp>
        <p:nvSpPr>
          <p:cNvPr id="5" name="Shape 3"/>
          <p:cNvSpPr/>
          <p:nvPr/>
        </p:nvSpPr>
        <p:spPr>
          <a:xfrm>
            <a:off x="320040" y="960120"/>
            <a:ext cx="8503920" cy="777240"/>
          </a:xfrm>
          <a:prstGeom prst="roundRect">
            <a:avLst>
              <a:gd name="adj" fmla="val 11765"/>
            </a:avLst>
          </a:prstGeom>
          <a:solidFill>
            <a:srgbClr val="1565C0">
              <a:alpha val="70000"/>
            </a:srgbClr>
          </a:solidFill>
          <a:ln/>
        </p:spPr>
      </p:sp>
      <p:pic>
        <p:nvPicPr>
          <p:cNvPr id="6" name="Image 0" descr="preencoded.png">    </p:cNvPr>
          <p:cNvPicPr>
            <a:picLocks noChangeAspect="1"/>
          </p:cNvPicPr>
          <p:nvPr/>
        </p:nvPicPr>
        <p:blipFill>
          <a:blip r:embed="rId1"/>
          <a:stretch>
            <a:fillRect/>
          </a:stretch>
        </p:blipFill>
        <p:spPr>
          <a:xfrm>
            <a:off x="457200" y="1078992"/>
            <a:ext cx="502920" cy="502920"/>
          </a:xfrm>
          <a:prstGeom prst="rect">
            <a:avLst/>
          </a:prstGeom>
        </p:spPr>
      </p:pic>
      <p:sp>
        <p:nvSpPr>
          <p:cNvPr id="7" name="Text 4"/>
          <p:cNvSpPr/>
          <p:nvPr/>
        </p:nvSpPr>
        <p:spPr>
          <a:xfrm>
            <a:off x="1097280" y="1005840"/>
            <a:ext cx="7589520" cy="7315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Concept: A middleware layer powered by an LLM that intercepts a user's raw prompt, analyzes it for gaps, and rewrites it into a fully-structured, optimized prompt before sending it to the AI model.</a:t>
            </a:r>
            <a:endParaRPr lang="en-US" sz="1300" dirty="0"/>
          </a:p>
        </p:txBody>
      </p:sp>
      <p:sp>
        <p:nvSpPr>
          <p:cNvPr id="8" name="Shape 5"/>
          <p:cNvSpPr/>
          <p:nvPr/>
        </p:nvSpPr>
        <p:spPr>
          <a:xfrm>
            <a:off x="457200" y="1965960"/>
            <a:ext cx="1737360" cy="1508760"/>
          </a:xfrm>
          <a:prstGeom prst="roundRect">
            <a:avLst>
              <a:gd name="adj" fmla="val 6061"/>
            </a:avLst>
          </a:prstGeom>
          <a:solidFill>
            <a:srgbClr val="1A2E4A"/>
          </a:solidFill>
          <a:ln/>
          <a:effectLst>
            <a:outerShdw sx="100000" sy="100000" kx="0" ky="0" algn="bl" rotWithShape="0" blurRad="101600" dist="38100" dir="2700000">
              <a:srgbClr val="000000">
                <a:alpha val="12000"/>
              </a:srgbClr>
            </a:outerShdw>
          </a:effectLst>
        </p:spPr>
      </p:sp>
      <p:sp>
        <p:nvSpPr>
          <p:cNvPr id="9" name="Shape 6"/>
          <p:cNvSpPr/>
          <p:nvPr/>
        </p:nvSpPr>
        <p:spPr>
          <a:xfrm>
            <a:off x="1005840" y="2057400"/>
            <a:ext cx="640080" cy="640080"/>
          </a:xfrm>
          <a:prstGeom prst="ellipse">
            <a:avLst/>
          </a:prstGeom>
          <a:solidFill>
            <a:srgbClr val="546E7A"/>
          </a:solidFill>
          <a:ln/>
        </p:spPr>
      </p:sp>
      <p:pic>
        <p:nvPicPr>
          <p:cNvPr id="10" name="Image 1" descr="preencoded.png">    </p:cNvPr>
          <p:cNvPicPr>
            <a:picLocks noChangeAspect="1"/>
          </p:cNvPicPr>
          <p:nvPr/>
        </p:nvPicPr>
        <p:blipFill>
          <a:blip r:embed="rId2"/>
          <a:stretch>
            <a:fillRect/>
          </a:stretch>
        </p:blipFill>
        <p:spPr>
          <a:xfrm>
            <a:off x="1069848" y="2121408"/>
            <a:ext cx="512064" cy="512064"/>
          </a:xfrm>
          <a:prstGeom prst="rect">
            <a:avLst/>
          </a:prstGeom>
        </p:spPr>
      </p:pic>
      <p:sp>
        <p:nvSpPr>
          <p:cNvPr id="11" name="Text 7"/>
          <p:cNvSpPr/>
          <p:nvPr/>
        </p:nvSpPr>
        <p:spPr>
          <a:xfrm>
            <a:off x="457200" y="2761488"/>
            <a:ext cx="173736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 Inputs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Raw Prompt</a:t>
            </a:r>
            <a:endParaRPr lang="en-US" sz="1100" dirty="0"/>
          </a:p>
        </p:txBody>
      </p:sp>
      <p:sp>
        <p:nvSpPr>
          <p:cNvPr id="12" name="Text 8"/>
          <p:cNvSpPr/>
          <p:nvPr/>
        </p:nvSpPr>
        <p:spPr>
          <a:xfrm>
            <a:off x="2194560" y="2468880"/>
            <a:ext cx="365760" cy="365760"/>
          </a:xfrm>
          <a:prstGeom prst="rect">
            <a:avLst/>
          </a:prstGeom>
          <a:noFill/>
          <a:ln/>
        </p:spPr>
        <p:txBody>
          <a:bodyPr wrap="square" lIns="0" tIns="0" rIns="0" bIns="0" rtlCol="0" anchor="ctr"/>
          <a:lstStyle/>
          <a:p>
            <a:pPr algn="ctr" indent="0" marL="0">
              <a:buNone/>
            </a:pPr>
            <a:r>
              <a:rPr lang="en-US" sz="1800" dirty="0">
                <a:solidFill>
                  <a:srgbClr val="00BCD4"/>
                </a:solidFill>
              </a:rPr>
              <a:t>➔</a:t>
            </a:r>
            <a:endParaRPr lang="en-US" sz="1800" dirty="0"/>
          </a:p>
        </p:txBody>
      </p:sp>
      <p:sp>
        <p:nvSpPr>
          <p:cNvPr id="13" name="Shape 9"/>
          <p:cNvSpPr/>
          <p:nvPr/>
        </p:nvSpPr>
        <p:spPr>
          <a:xfrm>
            <a:off x="2560320" y="1965960"/>
            <a:ext cx="1737360" cy="1508760"/>
          </a:xfrm>
          <a:prstGeom prst="roundRect">
            <a:avLst>
              <a:gd name="adj" fmla="val 6061"/>
            </a:avLst>
          </a:prstGeom>
          <a:solidFill>
            <a:srgbClr val="1A2E4A"/>
          </a:solidFill>
          <a:ln/>
          <a:effectLst>
            <a:outerShdw sx="100000" sy="100000" kx="0" ky="0" algn="bl" rotWithShape="0" blurRad="101600" dist="38100" dir="2700000">
              <a:srgbClr val="000000">
                <a:alpha val="12000"/>
              </a:srgbClr>
            </a:outerShdw>
          </a:effectLst>
        </p:spPr>
      </p:sp>
      <p:sp>
        <p:nvSpPr>
          <p:cNvPr id="14" name="Shape 10"/>
          <p:cNvSpPr/>
          <p:nvPr/>
        </p:nvSpPr>
        <p:spPr>
          <a:xfrm>
            <a:off x="3108960" y="2057400"/>
            <a:ext cx="640080" cy="640080"/>
          </a:xfrm>
          <a:prstGeom prst="ellipse">
            <a:avLst/>
          </a:prstGeom>
          <a:solidFill>
            <a:srgbClr val="00BCD4"/>
          </a:solidFill>
          <a:ln/>
        </p:spPr>
      </p:sp>
      <p:pic>
        <p:nvPicPr>
          <p:cNvPr id="15" name="Image 2" descr="preencoded.png">    </p:cNvPr>
          <p:cNvPicPr>
            <a:picLocks noChangeAspect="1"/>
          </p:cNvPicPr>
          <p:nvPr/>
        </p:nvPicPr>
        <p:blipFill>
          <a:blip r:embed="rId3"/>
          <a:stretch>
            <a:fillRect/>
          </a:stretch>
        </p:blipFill>
        <p:spPr>
          <a:xfrm>
            <a:off x="3172968" y="2121408"/>
            <a:ext cx="512064" cy="512064"/>
          </a:xfrm>
          <a:prstGeom prst="rect">
            <a:avLst/>
          </a:prstGeom>
        </p:spPr>
      </p:pic>
      <p:sp>
        <p:nvSpPr>
          <p:cNvPr id="16" name="Text 11"/>
          <p:cNvSpPr/>
          <p:nvPr/>
        </p:nvSpPr>
        <p:spPr>
          <a:xfrm>
            <a:off x="2560320" y="2761488"/>
            <a:ext cx="173736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Prompt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Optimizer (LLM)</a:t>
            </a:r>
            <a:endParaRPr lang="en-US" sz="1100" dirty="0"/>
          </a:p>
        </p:txBody>
      </p:sp>
      <p:sp>
        <p:nvSpPr>
          <p:cNvPr id="17" name="Text 12"/>
          <p:cNvSpPr/>
          <p:nvPr/>
        </p:nvSpPr>
        <p:spPr>
          <a:xfrm>
            <a:off x="4297680" y="2468880"/>
            <a:ext cx="365760" cy="365760"/>
          </a:xfrm>
          <a:prstGeom prst="rect">
            <a:avLst/>
          </a:prstGeom>
          <a:noFill/>
          <a:ln/>
        </p:spPr>
        <p:txBody>
          <a:bodyPr wrap="square" lIns="0" tIns="0" rIns="0" bIns="0" rtlCol="0" anchor="ctr"/>
          <a:lstStyle/>
          <a:p>
            <a:pPr algn="ctr" indent="0" marL="0">
              <a:buNone/>
            </a:pPr>
            <a:r>
              <a:rPr lang="en-US" sz="1800" dirty="0">
                <a:solidFill>
                  <a:srgbClr val="00BCD4"/>
                </a:solidFill>
              </a:rPr>
              <a:t>➔</a:t>
            </a:r>
            <a:endParaRPr lang="en-US" sz="1800" dirty="0"/>
          </a:p>
        </p:txBody>
      </p:sp>
      <p:sp>
        <p:nvSpPr>
          <p:cNvPr id="18" name="Shape 13"/>
          <p:cNvSpPr/>
          <p:nvPr/>
        </p:nvSpPr>
        <p:spPr>
          <a:xfrm>
            <a:off x="4663440" y="1965960"/>
            <a:ext cx="1737360" cy="1508760"/>
          </a:xfrm>
          <a:prstGeom prst="roundRect">
            <a:avLst>
              <a:gd name="adj" fmla="val 6061"/>
            </a:avLst>
          </a:prstGeom>
          <a:solidFill>
            <a:srgbClr val="1A2E4A"/>
          </a:solidFill>
          <a:ln/>
          <a:effectLst>
            <a:outerShdw sx="100000" sy="100000" kx="0" ky="0" algn="bl" rotWithShape="0" blurRad="101600" dist="38100" dir="2700000">
              <a:srgbClr val="000000">
                <a:alpha val="12000"/>
              </a:srgbClr>
            </a:outerShdw>
          </a:effectLst>
        </p:spPr>
      </p:sp>
      <p:sp>
        <p:nvSpPr>
          <p:cNvPr id="19" name="Shape 14"/>
          <p:cNvSpPr/>
          <p:nvPr/>
        </p:nvSpPr>
        <p:spPr>
          <a:xfrm>
            <a:off x="5212080" y="2057400"/>
            <a:ext cx="640080" cy="640080"/>
          </a:xfrm>
          <a:prstGeom prst="ellipse">
            <a:avLst/>
          </a:prstGeom>
          <a:solidFill>
            <a:srgbClr val="26A69A"/>
          </a:solidFill>
          <a:ln/>
        </p:spPr>
      </p:sp>
      <p:pic>
        <p:nvPicPr>
          <p:cNvPr id="20" name="Image 3" descr="preencoded.png">    </p:cNvPr>
          <p:cNvPicPr>
            <a:picLocks noChangeAspect="1"/>
          </p:cNvPicPr>
          <p:nvPr/>
        </p:nvPicPr>
        <p:blipFill>
          <a:blip r:embed="rId4"/>
          <a:stretch>
            <a:fillRect/>
          </a:stretch>
        </p:blipFill>
        <p:spPr>
          <a:xfrm>
            <a:off x="5276088" y="2121408"/>
            <a:ext cx="512064" cy="512064"/>
          </a:xfrm>
          <a:prstGeom prst="rect">
            <a:avLst/>
          </a:prstGeom>
        </p:spPr>
      </p:pic>
      <p:sp>
        <p:nvSpPr>
          <p:cNvPr id="21" name="Text 15"/>
          <p:cNvSpPr/>
          <p:nvPr/>
        </p:nvSpPr>
        <p:spPr>
          <a:xfrm>
            <a:off x="4663440" y="2761488"/>
            <a:ext cx="173736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Optimized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Prompt Sent</a:t>
            </a:r>
            <a:endParaRPr lang="en-US" sz="1100" dirty="0"/>
          </a:p>
        </p:txBody>
      </p:sp>
      <p:sp>
        <p:nvSpPr>
          <p:cNvPr id="22" name="Text 16"/>
          <p:cNvSpPr/>
          <p:nvPr/>
        </p:nvSpPr>
        <p:spPr>
          <a:xfrm>
            <a:off x="6400800" y="2468880"/>
            <a:ext cx="365760" cy="365760"/>
          </a:xfrm>
          <a:prstGeom prst="rect">
            <a:avLst/>
          </a:prstGeom>
          <a:noFill/>
          <a:ln/>
        </p:spPr>
        <p:txBody>
          <a:bodyPr wrap="square" lIns="0" tIns="0" rIns="0" bIns="0" rtlCol="0" anchor="ctr"/>
          <a:lstStyle/>
          <a:p>
            <a:pPr algn="ctr" indent="0" marL="0">
              <a:buNone/>
            </a:pPr>
            <a:r>
              <a:rPr lang="en-US" sz="1800" dirty="0">
                <a:solidFill>
                  <a:srgbClr val="00BCD4"/>
                </a:solidFill>
              </a:rPr>
              <a:t>➔</a:t>
            </a:r>
            <a:endParaRPr lang="en-US" sz="1800" dirty="0"/>
          </a:p>
        </p:txBody>
      </p:sp>
      <p:sp>
        <p:nvSpPr>
          <p:cNvPr id="23" name="Shape 17"/>
          <p:cNvSpPr/>
          <p:nvPr/>
        </p:nvSpPr>
        <p:spPr>
          <a:xfrm>
            <a:off x="6766560" y="1965960"/>
            <a:ext cx="1737360" cy="1508760"/>
          </a:xfrm>
          <a:prstGeom prst="roundRect">
            <a:avLst>
              <a:gd name="adj" fmla="val 6061"/>
            </a:avLst>
          </a:prstGeom>
          <a:solidFill>
            <a:srgbClr val="1A2E4A"/>
          </a:solidFill>
          <a:ln/>
          <a:effectLst>
            <a:outerShdw sx="100000" sy="100000" kx="0" ky="0" algn="bl" rotWithShape="0" blurRad="101600" dist="38100" dir="2700000">
              <a:srgbClr val="000000">
                <a:alpha val="12000"/>
              </a:srgbClr>
            </a:outerShdw>
          </a:effectLst>
        </p:spPr>
      </p:sp>
      <p:sp>
        <p:nvSpPr>
          <p:cNvPr id="24" name="Shape 18"/>
          <p:cNvSpPr/>
          <p:nvPr/>
        </p:nvSpPr>
        <p:spPr>
          <a:xfrm>
            <a:off x="7315200" y="2057400"/>
            <a:ext cx="640080" cy="640080"/>
          </a:xfrm>
          <a:prstGeom prst="ellipse">
            <a:avLst/>
          </a:prstGeom>
          <a:solidFill>
            <a:srgbClr val="F9A825"/>
          </a:solidFill>
          <a:ln/>
        </p:spPr>
      </p:sp>
      <p:pic>
        <p:nvPicPr>
          <p:cNvPr id="25" name="Image 4" descr="preencoded.png">    </p:cNvPr>
          <p:cNvPicPr>
            <a:picLocks noChangeAspect="1"/>
          </p:cNvPicPr>
          <p:nvPr/>
        </p:nvPicPr>
        <p:blipFill>
          <a:blip r:embed="rId5"/>
          <a:stretch>
            <a:fillRect/>
          </a:stretch>
        </p:blipFill>
        <p:spPr>
          <a:xfrm>
            <a:off x="7379208" y="2121408"/>
            <a:ext cx="512064" cy="512064"/>
          </a:xfrm>
          <a:prstGeom prst="rect">
            <a:avLst/>
          </a:prstGeom>
        </p:spPr>
      </p:pic>
      <p:sp>
        <p:nvSpPr>
          <p:cNvPr id="26" name="Text 19"/>
          <p:cNvSpPr/>
          <p:nvPr/>
        </p:nvSpPr>
        <p:spPr>
          <a:xfrm>
            <a:off x="6766560" y="2761488"/>
            <a:ext cx="173736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High-Quality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AI Output</a:t>
            </a:r>
            <a:endParaRPr lang="en-US" sz="1100" dirty="0"/>
          </a:p>
        </p:txBody>
      </p:sp>
      <p:sp>
        <p:nvSpPr>
          <p:cNvPr id="27" name="Text 20"/>
          <p:cNvSpPr/>
          <p:nvPr/>
        </p:nvSpPr>
        <p:spPr>
          <a:xfrm>
            <a:off x="457200" y="3703320"/>
            <a:ext cx="8229600" cy="320040"/>
          </a:xfrm>
          <a:prstGeom prst="rect">
            <a:avLst/>
          </a:prstGeom>
          <a:noFill/>
          <a:ln/>
        </p:spPr>
        <p:txBody>
          <a:bodyPr wrap="square" lIns="0" tIns="0" rIns="0" bIns="0" rtlCol="0" anchor="ctr"/>
          <a:lstStyle/>
          <a:p>
            <a:pPr indent="0" marL="0">
              <a:buNone/>
            </a:pPr>
            <a:r>
              <a:rPr lang="en-US" sz="1400" b="1" dirty="0">
                <a:solidFill>
                  <a:srgbClr val="00BCD4"/>
                </a:solidFill>
                <a:latin typeface="Calibri" pitchFamily="34" charset="0"/>
                <a:ea typeface="Calibri" pitchFamily="34" charset="-122"/>
                <a:cs typeface="Calibri" pitchFamily="34" charset="-120"/>
              </a:rPr>
              <a:t>What the Optimizer Does:</a:t>
            </a:r>
            <a:endParaRPr lang="en-US" sz="1400" dirty="0"/>
          </a:p>
        </p:txBody>
      </p:sp>
      <p:sp>
        <p:nvSpPr>
          <p:cNvPr id="28" name="Text 21"/>
          <p:cNvSpPr/>
          <p:nvPr/>
        </p:nvSpPr>
        <p:spPr>
          <a:xfrm>
            <a:off x="457200" y="4023360"/>
            <a:ext cx="4114800" cy="301752"/>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Detects missing context, role, or format in user input</a:t>
            </a:r>
            <a:endParaRPr lang="en-US" sz="1100" dirty="0"/>
          </a:p>
        </p:txBody>
      </p:sp>
      <p:sp>
        <p:nvSpPr>
          <p:cNvPr id="29" name="Text 22"/>
          <p:cNvSpPr/>
          <p:nvPr/>
        </p:nvSpPr>
        <p:spPr>
          <a:xfrm>
            <a:off x="457200" y="4361688"/>
            <a:ext cx="4114800" cy="301752"/>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Classifies task type (email, summary, report, response)</a:t>
            </a:r>
            <a:endParaRPr lang="en-US" sz="1100" dirty="0"/>
          </a:p>
        </p:txBody>
      </p:sp>
      <p:sp>
        <p:nvSpPr>
          <p:cNvPr id="30" name="Text 23"/>
          <p:cNvSpPr/>
          <p:nvPr/>
        </p:nvSpPr>
        <p:spPr>
          <a:xfrm>
            <a:off x="457200" y="4700016"/>
            <a:ext cx="4114800" cy="301752"/>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Enriches prompt with domain-appropriate language</a:t>
            </a:r>
            <a:endParaRPr lang="en-US" sz="1100" dirty="0"/>
          </a:p>
        </p:txBody>
      </p:sp>
      <p:sp>
        <p:nvSpPr>
          <p:cNvPr id="31" name="Text 24"/>
          <p:cNvSpPr/>
          <p:nvPr/>
        </p:nvSpPr>
        <p:spPr>
          <a:xfrm>
            <a:off x="4846320" y="4023360"/>
            <a:ext cx="4114800" cy="301752"/>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Injects tone and length constraints automatically</a:t>
            </a:r>
            <a:endParaRPr lang="en-US" sz="1100" dirty="0"/>
          </a:p>
        </p:txBody>
      </p:sp>
      <p:sp>
        <p:nvSpPr>
          <p:cNvPr id="32" name="Text 25"/>
          <p:cNvSpPr/>
          <p:nvPr/>
        </p:nvSpPr>
        <p:spPr>
          <a:xfrm>
            <a:off x="4846320" y="4361688"/>
            <a:ext cx="4114800" cy="301752"/>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Validates prompt quality before model call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565C0"/>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1565C0"/>
                </a:solidFill>
                <a:latin typeface="Calibri" pitchFamily="34" charset="0"/>
                <a:ea typeface="Calibri" pitchFamily="34" charset="-122"/>
                <a:cs typeface="Calibri" pitchFamily="34" charset="-120"/>
              </a:rPr>
              <a:t>System Architecture: How It Works</a:t>
            </a:r>
            <a:endParaRPr lang="en-US" sz="26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06  |  Technical Design</a:t>
            </a:r>
            <a:endParaRPr lang="en-US" sz="1000" dirty="0"/>
          </a:p>
        </p:txBody>
      </p:sp>
      <p:sp>
        <p:nvSpPr>
          <p:cNvPr id="5" name="Shape 3"/>
          <p:cNvSpPr/>
          <p:nvPr/>
        </p:nvSpPr>
        <p:spPr>
          <a:xfrm>
            <a:off x="320040" y="987552"/>
            <a:ext cx="8503920" cy="713232"/>
          </a:xfrm>
          <a:prstGeom prst="roundRect">
            <a:avLst>
              <a:gd name="adj" fmla="val 8974"/>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320040" y="987552"/>
            <a:ext cx="2560320" cy="713232"/>
          </a:xfrm>
          <a:prstGeom prst="roundRect">
            <a:avLst>
              <a:gd name="adj" fmla="val 8974"/>
            </a:avLst>
          </a:prstGeom>
          <a:solidFill>
            <a:srgbClr val="546E7A">
              <a:alpha val="85000"/>
            </a:srgbClr>
          </a:solidFill>
          <a:ln/>
        </p:spPr>
      </p:sp>
      <p:sp>
        <p:nvSpPr>
          <p:cNvPr id="7" name="Text 5"/>
          <p:cNvSpPr/>
          <p:nvPr/>
        </p:nvSpPr>
        <p:spPr>
          <a:xfrm>
            <a:off x="411480" y="1133856"/>
            <a:ext cx="23774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1 — Input Interface</a:t>
            </a:r>
            <a:endParaRPr lang="en-US" sz="1100" dirty="0"/>
          </a:p>
        </p:txBody>
      </p:sp>
      <p:sp>
        <p:nvSpPr>
          <p:cNvPr id="8" name="Text 6"/>
          <p:cNvSpPr/>
          <p:nvPr/>
        </p:nvSpPr>
        <p:spPr>
          <a:xfrm>
            <a:off x="3017520" y="1069848"/>
            <a:ext cx="5715000" cy="5486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Web/Desktop UI where business users type their request. Lightweight frontend capturing raw text + optional metadata (department, document type).</a:t>
            </a:r>
            <a:endParaRPr lang="en-US" sz="1100" dirty="0"/>
          </a:p>
        </p:txBody>
      </p:sp>
      <p:sp>
        <p:nvSpPr>
          <p:cNvPr id="9" name="Text 7"/>
          <p:cNvSpPr/>
          <p:nvPr/>
        </p:nvSpPr>
        <p:spPr>
          <a:xfrm>
            <a:off x="4434840" y="1682496"/>
            <a:ext cx="274320" cy="128016"/>
          </a:xfrm>
          <a:prstGeom prst="rect">
            <a:avLst/>
          </a:prstGeom>
          <a:noFill/>
          <a:ln/>
        </p:spPr>
        <p:txBody>
          <a:bodyPr wrap="square" lIns="0" tIns="0" rIns="0" bIns="0" rtlCol="0" anchor="ctr"/>
          <a:lstStyle/>
          <a:p>
            <a:pPr algn="ctr" indent="0" marL="0">
              <a:buNone/>
            </a:pPr>
            <a:r>
              <a:rPr lang="en-US" sz="900" dirty="0">
                <a:solidFill>
                  <a:srgbClr val="1565C0"/>
                </a:solidFill>
              </a:rPr>
              <a:t>▼</a:t>
            </a:r>
            <a:endParaRPr lang="en-US" sz="900" dirty="0"/>
          </a:p>
        </p:txBody>
      </p:sp>
      <p:sp>
        <p:nvSpPr>
          <p:cNvPr id="10" name="Shape 8"/>
          <p:cNvSpPr/>
          <p:nvPr/>
        </p:nvSpPr>
        <p:spPr>
          <a:xfrm>
            <a:off x="320040" y="1783080"/>
            <a:ext cx="8503920" cy="713232"/>
          </a:xfrm>
          <a:prstGeom prst="roundRect">
            <a:avLst>
              <a:gd name="adj" fmla="val 8974"/>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320040" y="1783080"/>
            <a:ext cx="2560320" cy="713232"/>
          </a:xfrm>
          <a:prstGeom prst="roundRect">
            <a:avLst>
              <a:gd name="adj" fmla="val 8974"/>
            </a:avLst>
          </a:prstGeom>
          <a:solidFill>
            <a:srgbClr val="1565C0">
              <a:alpha val="85000"/>
            </a:srgbClr>
          </a:solidFill>
          <a:ln/>
        </p:spPr>
      </p:sp>
      <p:sp>
        <p:nvSpPr>
          <p:cNvPr id="12" name="Text 10"/>
          <p:cNvSpPr/>
          <p:nvPr/>
        </p:nvSpPr>
        <p:spPr>
          <a:xfrm>
            <a:off x="411480" y="1929384"/>
            <a:ext cx="23774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2 — Prompt Analysis Engine</a:t>
            </a:r>
            <a:endParaRPr lang="en-US" sz="1100" dirty="0"/>
          </a:p>
        </p:txBody>
      </p:sp>
      <p:sp>
        <p:nvSpPr>
          <p:cNvPr id="13" name="Text 11"/>
          <p:cNvSpPr/>
          <p:nvPr/>
        </p:nvSpPr>
        <p:spPr>
          <a:xfrm>
            <a:off x="3017520" y="1865376"/>
            <a:ext cx="5715000" cy="5486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NLP classifier identifies: task type, missing elements (role/format/context), domain keywords. Flags incomplete or ambiguous prompts.</a:t>
            </a:r>
            <a:endParaRPr lang="en-US" sz="1100" dirty="0"/>
          </a:p>
        </p:txBody>
      </p:sp>
      <p:sp>
        <p:nvSpPr>
          <p:cNvPr id="14" name="Text 12"/>
          <p:cNvSpPr/>
          <p:nvPr/>
        </p:nvSpPr>
        <p:spPr>
          <a:xfrm>
            <a:off x="4434840" y="2478024"/>
            <a:ext cx="274320" cy="128016"/>
          </a:xfrm>
          <a:prstGeom prst="rect">
            <a:avLst/>
          </a:prstGeom>
          <a:noFill/>
          <a:ln/>
        </p:spPr>
        <p:txBody>
          <a:bodyPr wrap="square" lIns="0" tIns="0" rIns="0" bIns="0" rtlCol="0" anchor="ctr"/>
          <a:lstStyle/>
          <a:p>
            <a:pPr algn="ctr" indent="0" marL="0">
              <a:buNone/>
            </a:pPr>
            <a:r>
              <a:rPr lang="en-US" sz="900" dirty="0">
                <a:solidFill>
                  <a:srgbClr val="1565C0"/>
                </a:solidFill>
              </a:rPr>
              <a:t>▼</a:t>
            </a:r>
            <a:endParaRPr lang="en-US" sz="900" dirty="0"/>
          </a:p>
        </p:txBody>
      </p:sp>
      <p:sp>
        <p:nvSpPr>
          <p:cNvPr id="15" name="Shape 13"/>
          <p:cNvSpPr/>
          <p:nvPr/>
        </p:nvSpPr>
        <p:spPr>
          <a:xfrm>
            <a:off x="320040" y="2578608"/>
            <a:ext cx="8503920" cy="713232"/>
          </a:xfrm>
          <a:prstGeom prst="roundRect">
            <a:avLst>
              <a:gd name="adj" fmla="val 8974"/>
            </a:avLst>
          </a:prstGeom>
          <a:solidFill>
            <a:srgbClr val="FFFFFF"/>
          </a:solidFill>
          <a:ln/>
          <a:effectLst>
            <a:outerShdw sx="100000" sy="100000" kx="0" ky="0" algn="bl" rotWithShape="0" blurRad="101600" dist="38100" dir="2700000">
              <a:srgbClr val="000000">
                <a:alpha val="12000"/>
              </a:srgbClr>
            </a:outerShdw>
          </a:effectLst>
        </p:spPr>
      </p:sp>
      <p:sp>
        <p:nvSpPr>
          <p:cNvPr id="16" name="Shape 14"/>
          <p:cNvSpPr/>
          <p:nvPr/>
        </p:nvSpPr>
        <p:spPr>
          <a:xfrm>
            <a:off x="320040" y="2578608"/>
            <a:ext cx="2560320" cy="713232"/>
          </a:xfrm>
          <a:prstGeom prst="roundRect">
            <a:avLst>
              <a:gd name="adj" fmla="val 8974"/>
            </a:avLst>
          </a:prstGeom>
          <a:solidFill>
            <a:srgbClr val="00BCD4">
              <a:alpha val="85000"/>
            </a:srgbClr>
          </a:solidFill>
          <a:ln/>
        </p:spPr>
      </p:sp>
      <p:sp>
        <p:nvSpPr>
          <p:cNvPr id="17" name="Text 15"/>
          <p:cNvSpPr/>
          <p:nvPr/>
        </p:nvSpPr>
        <p:spPr>
          <a:xfrm>
            <a:off x="411480" y="2724912"/>
            <a:ext cx="23774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3 — Optimization Engine (LLM)</a:t>
            </a:r>
            <a:endParaRPr lang="en-US" sz="1100" dirty="0"/>
          </a:p>
        </p:txBody>
      </p:sp>
      <p:sp>
        <p:nvSpPr>
          <p:cNvPr id="18" name="Text 16"/>
          <p:cNvSpPr/>
          <p:nvPr/>
        </p:nvSpPr>
        <p:spPr>
          <a:xfrm>
            <a:off x="3017520" y="2660904"/>
            <a:ext cx="5715000" cy="5486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A fine-tuned LLM (e.g., GPT-4 Turbo) rewrites the prompt using a meta-prompt template. Injects role, context, format, constraints, and tone.</a:t>
            </a:r>
            <a:endParaRPr lang="en-US" sz="1100" dirty="0"/>
          </a:p>
        </p:txBody>
      </p:sp>
      <p:sp>
        <p:nvSpPr>
          <p:cNvPr id="19" name="Text 17"/>
          <p:cNvSpPr/>
          <p:nvPr/>
        </p:nvSpPr>
        <p:spPr>
          <a:xfrm>
            <a:off x="4434840" y="3273552"/>
            <a:ext cx="274320" cy="128016"/>
          </a:xfrm>
          <a:prstGeom prst="rect">
            <a:avLst/>
          </a:prstGeom>
          <a:noFill/>
          <a:ln/>
        </p:spPr>
        <p:txBody>
          <a:bodyPr wrap="square" lIns="0" tIns="0" rIns="0" bIns="0" rtlCol="0" anchor="ctr"/>
          <a:lstStyle/>
          <a:p>
            <a:pPr algn="ctr" indent="0" marL="0">
              <a:buNone/>
            </a:pPr>
            <a:r>
              <a:rPr lang="en-US" sz="900" dirty="0">
                <a:solidFill>
                  <a:srgbClr val="1565C0"/>
                </a:solidFill>
              </a:rPr>
              <a:t>▼</a:t>
            </a:r>
            <a:endParaRPr lang="en-US" sz="900" dirty="0"/>
          </a:p>
        </p:txBody>
      </p:sp>
      <p:sp>
        <p:nvSpPr>
          <p:cNvPr id="20" name="Shape 18"/>
          <p:cNvSpPr/>
          <p:nvPr/>
        </p:nvSpPr>
        <p:spPr>
          <a:xfrm>
            <a:off x="320040" y="3374136"/>
            <a:ext cx="8503920" cy="713232"/>
          </a:xfrm>
          <a:prstGeom prst="roundRect">
            <a:avLst>
              <a:gd name="adj" fmla="val 8974"/>
            </a:avLst>
          </a:prstGeom>
          <a:solidFill>
            <a:srgbClr val="FFFFFF"/>
          </a:solidFill>
          <a:ln/>
          <a:effectLst>
            <a:outerShdw sx="100000" sy="100000" kx="0" ky="0" algn="bl" rotWithShape="0" blurRad="101600" dist="38100" dir="2700000">
              <a:srgbClr val="000000">
                <a:alpha val="12000"/>
              </a:srgbClr>
            </a:outerShdw>
          </a:effectLst>
        </p:spPr>
      </p:sp>
      <p:sp>
        <p:nvSpPr>
          <p:cNvPr id="21" name="Shape 19"/>
          <p:cNvSpPr/>
          <p:nvPr/>
        </p:nvSpPr>
        <p:spPr>
          <a:xfrm>
            <a:off x="320040" y="3374136"/>
            <a:ext cx="2560320" cy="713232"/>
          </a:xfrm>
          <a:prstGeom prst="roundRect">
            <a:avLst>
              <a:gd name="adj" fmla="val 8974"/>
            </a:avLst>
          </a:prstGeom>
          <a:solidFill>
            <a:srgbClr val="26A69A">
              <a:alpha val="85000"/>
            </a:srgbClr>
          </a:solidFill>
          <a:ln/>
        </p:spPr>
      </p:sp>
      <p:sp>
        <p:nvSpPr>
          <p:cNvPr id="22" name="Text 20"/>
          <p:cNvSpPr/>
          <p:nvPr/>
        </p:nvSpPr>
        <p:spPr>
          <a:xfrm>
            <a:off x="411480" y="3520440"/>
            <a:ext cx="23774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4 — Output LLM</a:t>
            </a:r>
            <a:endParaRPr lang="en-US" sz="1100" dirty="0"/>
          </a:p>
        </p:txBody>
      </p:sp>
      <p:sp>
        <p:nvSpPr>
          <p:cNvPr id="23" name="Text 21"/>
          <p:cNvSpPr/>
          <p:nvPr/>
        </p:nvSpPr>
        <p:spPr>
          <a:xfrm>
            <a:off x="3017520" y="3456432"/>
            <a:ext cx="5715000" cy="5486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The optimized prompt is sent to the target model. Output is generated with measurably higher accuracy and consistency.</a:t>
            </a:r>
            <a:endParaRPr lang="en-US" sz="1100" dirty="0"/>
          </a:p>
        </p:txBody>
      </p:sp>
      <p:sp>
        <p:nvSpPr>
          <p:cNvPr id="24" name="Text 22"/>
          <p:cNvSpPr/>
          <p:nvPr/>
        </p:nvSpPr>
        <p:spPr>
          <a:xfrm>
            <a:off x="4434840" y="4069080"/>
            <a:ext cx="274320" cy="128016"/>
          </a:xfrm>
          <a:prstGeom prst="rect">
            <a:avLst/>
          </a:prstGeom>
          <a:noFill/>
          <a:ln/>
        </p:spPr>
        <p:txBody>
          <a:bodyPr wrap="square" lIns="0" tIns="0" rIns="0" bIns="0" rtlCol="0" anchor="ctr"/>
          <a:lstStyle/>
          <a:p>
            <a:pPr algn="ctr" indent="0" marL="0">
              <a:buNone/>
            </a:pPr>
            <a:r>
              <a:rPr lang="en-US" sz="900" dirty="0">
                <a:solidFill>
                  <a:srgbClr val="1565C0"/>
                </a:solidFill>
              </a:rPr>
              <a:t>▼</a:t>
            </a:r>
            <a:endParaRPr lang="en-US" sz="900" dirty="0"/>
          </a:p>
        </p:txBody>
      </p:sp>
      <p:sp>
        <p:nvSpPr>
          <p:cNvPr id="25" name="Shape 23"/>
          <p:cNvSpPr/>
          <p:nvPr/>
        </p:nvSpPr>
        <p:spPr>
          <a:xfrm>
            <a:off x="320040" y="4169664"/>
            <a:ext cx="8503920" cy="713232"/>
          </a:xfrm>
          <a:prstGeom prst="roundRect">
            <a:avLst>
              <a:gd name="adj" fmla="val 8974"/>
            </a:avLst>
          </a:prstGeom>
          <a:solidFill>
            <a:srgbClr val="FFFFFF"/>
          </a:solidFill>
          <a:ln/>
          <a:effectLst>
            <a:outerShdw sx="100000" sy="100000" kx="0" ky="0" algn="bl" rotWithShape="0" blurRad="101600" dist="38100" dir="2700000">
              <a:srgbClr val="000000">
                <a:alpha val="12000"/>
              </a:srgbClr>
            </a:outerShdw>
          </a:effectLst>
        </p:spPr>
      </p:sp>
      <p:sp>
        <p:nvSpPr>
          <p:cNvPr id="26" name="Shape 24"/>
          <p:cNvSpPr/>
          <p:nvPr/>
        </p:nvSpPr>
        <p:spPr>
          <a:xfrm>
            <a:off x="320040" y="4169664"/>
            <a:ext cx="2560320" cy="713232"/>
          </a:xfrm>
          <a:prstGeom prst="roundRect">
            <a:avLst>
              <a:gd name="adj" fmla="val 8974"/>
            </a:avLst>
          </a:prstGeom>
          <a:solidFill>
            <a:srgbClr val="F9A825">
              <a:alpha val="85000"/>
            </a:srgbClr>
          </a:solidFill>
          <a:ln/>
        </p:spPr>
      </p:sp>
      <p:sp>
        <p:nvSpPr>
          <p:cNvPr id="27" name="Text 25"/>
          <p:cNvSpPr/>
          <p:nvPr/>
        </p:nvSpPr>
        <p:spPr>
          <a:xfrm>
            <a:off x="411480" y="4315968"/>
            <a:ext cx="23774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5 — Feedback Loop</a:t>
            </a:r>
            <a:endParaRPr lang="en-US" sz="1100" dirty="0"/>
          </a:p>
        </p:txBody>
      </p:sp>
      <p:sp>
        <p:nvSpPr>
          <p:cNvPr id="28" name="Text 26"/>
          <p:cNvSpPr/>
          <p:nvPr/>
        </p:nvSpPr>
        <p:spPr>
          <a:xfrm>
            <a:off x="3017520" y="4251960"/>
            <a:ext cx="5715000" cy="5486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User rates the output. Ratings feed back into the optimization engine to improve future rewrites. Continuous learning pipeline.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00BCD4"/>
                </a:solidFill>
                <a:latin typeface="Calibri" pitchFamily="34" charset="0"/>
                <a:ea typeface="Calibri" pitchFamily="34" charset="-122"/>
                <a:cs typeface="Calibri" pitchFamily="34" charset="-120"/>
              </a:rPr>
              <a:t>What Makes It 'Smart'?</a:t>
            </a:r>
            <a:endParaRPr lang="en-US" sz="26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07  |  Intelligence Design</a:t>
            </a:r>
            <a:endParaRPr lang="en-US" sz="1000" dirty="0"/>
          </a:p>
        </p:txBody>
      </p:sp>
      <p:sp>
        <p:nvSpPr>
          <p:cNvPr id="5" name="Shape 3"/>
          <p:cNvSpPr/>
          <p:nvPr/>
        </p:nvSpPr>
        <p:spPr>
          <a:xfrm>
            <a:off x="320040" y="1005840"/>
            <a:ext cx="269748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411480" y="1115568"/>
            <a:ext cx="502920" cy="502920"/>
          </a:xfrm>
          <a:prstGeom prst="ellipse">
            <a:avLst/>
          </a:prstGeom>
          <a:solidFill>
            <a:srgbClr val="1565C0"/>
          </a:solidFill>
          <a:ln/>
        </p:spPr>
      </p:sp>
      <p:pic>
        <p:nvPicPr>
          <p:cNvPr id="7" name="Image 0" descr="preencoded.png">    </p:cNvPr>
          <p:cNvPicPr>
            <a:picLocks noChangeAspect="1"/>
          </p:cNvPicPr>
          <p:nvPr/>
        </p:nvPicPr>
        <p:blipFill>
          <a:blip r:embed="rId1"/>
          <a:stretch>
            <a:fillRect/>
          </a:stretch>
        </p:blipFill>
        <p:spPr>
          <a:xfrm>
            <a:off x="475488" y="1179576"/>
            <a:ext cx="374904" cy="374904"/>
          </a:xfrm>
          <a:prstGeom prst="rect">
            <a:avLst/>
          </a:prstGeom>
        </p:spPr>
      </p:pic>
      <p:sp>
        <p:nvSpPr>
          <p:cNvPr id="8" name="Text 5"/>
          <p:cNvSpPr/>
          <p:nvPr/>
        </p:nvSpPr>
        <p:spPr>
          <a:xfrm>
            <a:off x="1005840" y="1115568"/>
            <a:ext cx="1920240" cy="50292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Semantic Understanding</a:t>
            </a:r>
            <a:endParaRPr lang="en-US" sz="1200" dirty="0"/>
          </a:p>
        </p:txBody>
      </p:sp>
      <p:sp>
        <p:nvSpPr>
          <p:cNvPr id="9" name="Text 6"/>
          <p:cNvSpPr/>
          <p:nvPr/>
        </p:nvSpPr>
        <p:spPr>
          <a:xfrm>
            <a:off x="429768" y="1691640"/>
            <a:ext cx="2478024" cy="9144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Uses NLP to understand what the user actually wants, not just what they typed. Distinguishes between task types even with minimal input.</a:t>
            </a:r>
            <a:endParaRPr lang="en-US" sz="1000" dirty="0"/>
          </a:p>
        </p:txBody>
      </p:sp>
      <p:sp>
        <p:nvSpPr>
          <p:cNvPr id="10" name="Shape 7"/>
          <p:cNvSpPr/>
          <p:nvPr/>
        </p:nvSpPr>
        <p:spPr>
          <a:xfrm>
            <a:off x="3227832" y="1005840"/>
            <a:ext cx="269748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11" name="Shape 8"/>
          <p:cNvSpPr/>
          <p:nvPr/>
        </p:nvSpPr>
        <p:spPr>
          <a:xfrm>
            <a:off x="3319272" y="1115568"/>
            <a:ext cx="502920" cy="502920"/>
          </a:xfrm>
          <a:prstGeom prst="ellipse">
            <a:avLst/>
          </a:prstGeom>
          <a:solidFill>
            <a:srgbClr val="26A69A"/>
          </a:solidFill>
          <a:ln/>
        </p:spPr>
      </p:sp>
      <p:pic>
        <p:nvPicPr>
          <p:cNvPr id="12" name="Image 1" descr="preencoded.png">    </p:cNvPr>
          <p:cNvPicPr>
            <a:picLocks noChangeAspect="1"/>
          </p:cNvPicPr>
          <p:nvPr/>
        </p:nvPicPr>
        <p:blipFill>
          <a:blip r:embed="rId2"/>
          <a:stretch>
            <a:fillRect/>
          </a:stretch>
        </p:blipFill>
        <p:spPr>
          <a:xfrm>
            <a:off x="3383280" y="1179576"/>
            <a:ext cx="374904" cy="374904"/>
          </a:xfrm>
          <a:prstGeom prst="rect">
            <a:avLst/>
          </a:prstGeom>
        </p:spPr>
      </p:pic>
      <p:sp>
        <p:nvSpPr>
          <p:cNvPr id="13" name="Text 9"/>
          <p:cNvSpPr/>
          <p:nvPr/>
        </p:nvSpPr>
        <p:spPr>
          <a:xfrm>
            <a:off x="3913632" y="1115568"/>
            <a:ext cx="1920240" cy="502920"/>
          </a:xfrm>
          <a:prstGeom prst="rect">
            <a:avLst/>
          </a:prstGeom>
          <a:noFill/>
          <a:ln/>
        </p:spPr>
        <p:txBody>
          <a:bodyPr wrap="square" lIns="0" tIns="0" rIns="0" bIns="0" rtlCol="0" anchor="ctr"/>
          <a:lstStyle/>
          <a:p>
            <a:pPr indent="0" marL="0">
              <a:buNone/>
            </a:pPr>
            <a:r>
              <a:rPr lang="en-US" sz="1200" b="1" dirty="0">
                <a:solidFill>
                  <a:srgbClr val="26A69A"/>
                </a:solidFill>
                <a:latin typeface="Calibri" pitchFamily="34" charset="0"/>
                <a:ea typeface="Calibri" pitchFamily="34" charset="-122"/>
                <a:cs typeface="Calibri" pitchFamily="34" charset="-120"/>
              </a:rPr>
              <a:t>Meta-Prompt Injection</a:t>
            </a:r>
            <a:endParaRPr lang="en-US" sz="1200" dirty="0"/>
          </a:p>
        </p:txBody>
      </p:sp>
      <p:sp>
        <p:nvSpPr>
          <p:cNvPr id="14" name="Text 10"/>
          <p:cNvSpPr/>
          <p:nvPr/>
        </p:nvSpPr>
        <p:spPr>
          <a:xfrm>
            <a:off x="3337560" y="1691640"/>
            <a:ext cx="2478024" cy="9144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A master meta-prompt guides the optimizer LLM. It knows the rules of effective prompting and applies them dynamically to any raw input.</a:t>
            </a:r>
            <a:endParaRPr lang="en-US" sz="1000" dirty="0"/>
          </a:p>
        </p:txBody>
      </p:sp>
      <p:sp>
        <p:nvSpPr>
          <p:cNvPr id="15" name="Shape 11"/>
          <p:cNvSpPr/>
          <p:nvPr/>
        </p:nvSpPr>
        <p:spPr>
          <a:xfrm>
            <a:off x="6135624" y="1005840"/>
            <a:ext cx="269748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16" name="Shape 12"/>
          <p:cNvSpPr/>
          <p:nvPr/>
        </p:nvSpPr>
        <p:spPr>
          <a:xfrm>
            <a:off x="6227064" y="1115568"/>
            <a:ext cx="502920" cy="502920"/>
          </a:xfrm>
          <a:prstGeom prst="ellipse">
            <a:avLst/>
          </a:prstGeom>
          <a:solidFill>
            <a:srgbClr val="00BCD4"/>
          </a:solidFill>
          <a:ln/>
        </p:spPr>
      </p:sp>
      <p:pic>
        <p:nvPicPr>
          <p:cNvPr id="17" name="Image 2" descr="preencoded.png">    </p:cNvPr>
          <p:cNvPicPr>
            <a:picLocks noChangeAspect="1"/>
          </p:cNvPicPr>
          <p:nvPr/>
        </p:nvPicPr>
        <p:blipFill>
          <a:blip r:embed="rId3"/>
          <a:stretch>
            <a:fillRect/>
          </a:stretch>
        </p:blipFill>
        <p:spPr>
          <a:xfrm>
            <a:off x="6291072" y="1179576"/>
            <a:ext cx="374904" cy="374904"/>
          </a:xfrm>
          <a:prstGeom prst="rect">
            <a:avLst/>
          </a:prstGeom>
        </p:spPr>
      </p:pic>
      <p:sp>
        <p:nvSpPr>
          <p:cNvPr id="18" name="Text 13"/>
          <p:cNvSpPr/>
          <p:nvPr/>
        </p:nvSpPr>
        <p:spPr>
          <a:xfrm>
            <a:off x="6821424" y="1115568"/>
            <a:ext cx="1920240" cy="502920"/>
          </a:xfrm>
          <a:prstGeom prst="rect">
            <a:avLst/>
          </a:prstGeom>
          <a:noFill/>
          <a:ln/>
        </p:spPr>
        <p:txBody>
          <a:bodyPr wrap="square" lIns="0" tIns="0" rIns="0" bIns="0" rtlCol="0" anchor="ctr"/>
          <a:lstStyle/>
          <a:p>
            <a:pPr indent="0" marL="0">
              <a:buNone/>
            </a:pPr>
            <a:r>
              <a:rPr lang="en-US" sz="1200" b="1" dirty="0">
                <a:solidFill>
                  <a:srgbClr val="00BCD4"/>
                </a:solidFill>
                <a:latin typeface="Calibri" pitchFamily="34" charset="0"/>
                <a:ea typeface="Calibri" pitchFamily="34" charset="-122"/>
                <a:cs typeface="Calibri" pitchFamily="34" charset="-120"/>
              </a:rPr>
              <a:t>Domain Awareness</a:t>
            </a:r>
            <a:endParaRPr lang="en-US" sz="1200" dirty="0"/>
          </a:p>
        </p:txBody>
      </p:sp>
      <p:sp>
        <p:nvSpPr>
          <p:cNvPr id="19" name="Text 14"/>
          <p:cNvSpPr/>
          <p:nvPr/>
        </p:nvSpPr>
        <p:spPr>
          <a:xfrm>
            <a:off x="6245352" y="1691640"/>
            <a:ext cx="2478024" cy="9144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Configured with company-specific vocabulary, product names, policies, and tone guidelines. Outputs are contextually accurate to your business.</a:t>
            </a:r>
            <a:endParaRPr lang="en-US" sz="1000" dirty="0"/>
          </a:p>
        </p:txBody>
      </p:sp>
      <p:sp>
        <p:nvSpPr>
          <p:cNvPr id="20" name="Shape 15"/>
          <p:cNvSpPr/>
          <p:nvPr/>
        </p:nvSpPr>
        <p:spPr>
          <a:xfrm>
            <a:off x="320040" y="2926080"/>
            <a:ext cx="269748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21" name="Shape 16"/>
          <p:cNvSpPr/>
          <p:nvPr/>
        </p:nvSpPr>
        <p:spPr>
          <a:xfrm>
            <a:off x="411480" y="3035808"/>
            <a:ext cx="502920" cy="502920"/>
          </a:xfrm>
          <a:prstGeom prst="ellipse">
            <a:avLst/>
          </a:prstGeom>
          <a:solidFill>
            <a:srgbClr val="F9A825"/>
          </a:solidFill>
          <a:ln/>
        </p:spPr>
      </p:sp>
      <p:pic>
        <p:nvPicPr>
          <p:cNvPr id="22" name="Image 3" descr="preencoded.png">    </p:cNvPr>
          <p:cNvPicPr>
            <a:picLocks noChangeAspect="1"/>
          </p:cNvPicPr>
          <p:nvPr/>
        </p:nvPicPr>
        <p:blipFill>
          <a:blip r:embed="rId4"/>
          <a:stretch>
            <a:fillRect/>
          </a:stretch>
        </p:blipFill>
        <p:spPr>
          <a:xfrm>
            <a:off x="475488" y="3099816"/>
            <a:ext cx="374904" cy="374904"/>
          </a:xfrm>
          <a:prstGeom prst="rect">
            <a:avLst/>
          </a:prstGeom>
        </p:spPr>
      </p:pic>
      <p:sp>
        <p:nvSpPr>
          <p:cNvPr id="23" name="Text 17"/>
          <p:cNvSpPr/>
          <p:nvPr/>
        </p:nvSpPr>
        <p:spPr>
          <a:xfrm>
            <a:off x="1005840" y="3035808"/>
            <a:ext cx="1920240" cy="502920"/>
          </a:xfrm>
          <a:prstGeom prst="rect">
            <a:avLst/>
          </a:prstGeom>
          <a:noFill/>
          <a:ln/>
        </p:spPr>
        <p:txBody>
          <a:bodyPr wrap="square" lIns="0" tIns="0" rIns="0" bIns="0" rtlCol="0" anchor="ctr"/>
          <a:lstStyle/>
          <a:p>
            <a:pPr indent="0" marL="0">
              <a:buNone/>
            </a:pPr>
            <a:r>
              <a:rPr lang="en-US" sz="1200" b="1" dirty="0">
                <a:solidFill>
                  <a:srgbClr val="F9A825"/>
                </a:solidFill>
                <a:latin typeface="Calibri" pitchFamily="34" charset="0"/>
                <a:ea typeface="Calibri" pitchFamily="34" charset="-122"/>
                <a:cs typeface="Calibri" pitchFamily="34" charset="-120"/>
              </a:rPr>
              <a:t>Adaptive Learning</a:t>
            </a:r>
            <a:endParaRPr lang="en-US" sz="1200" dirty="0"/>
          </a:p>
        </p:txBody>
      </p:sp>
      <p:sp>
        <p:nvSpPr>
          <p:cNvPr id="24" name="Text 18"/>
          <p:cNvSpPr/>
          <p:nvPr/>
        </p:nvSpPr>
        <p:spPr>
          <a:xfrm>
            <a:off x="429768" y="3611880"/>
            <a:ext cx="2478024" cy="9144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Feedback scores train a fine-tuning pipeline. Over time, the optimizer learns what 'good' looks like for your specific team and use cases.</a:t>
            </a:r>
            <a:endParaRPr lang="en-US" sz="1000" dirty="0"/>
          </a:p>
        </p:txBody>
      </p:sp>
      <p:sp>
        <p:nvSpPr>
          <p:cNvPr id="25" name="Shape 19"/>
          <p:cNvSpPr/>
          <p:nvPr/>
        </p:nvSpPr>
        <p:spPr>
          <a:xfrm>
            <a:off x="3227832" y="2926080"/>
            <a:ext cx="269748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26" name="Shape 20"/>
          <p:cNvSpPr/>
          <p:nvPr/>
        </p:nvSpPr>
        <p:spPr>
          <a:xfrm>
            <a:off x="3319272" y="3035808"/>
            <a:ext cx="502920" cy="502920"/>
          </a:xfrm>
          <a:prstGeom prst="ellipse">
            <a:avLst/>
          </a:prstGeom>
          <a:solidFill>
            <a:srgbClr val="26A69A"/>
          </a:solidFill>
          <a:ln/>
        </p:spPr>
      </p:sp>
      <p:pic>
        <p:nvPicPr>
          <p:cNvPr id="27" name="Image 4" descr="preencoded.png">    </p:cNvPr>
          <p:cNvPicPr>
            <a:picLocks noChangeAspect="1"/>
          </p:cNvPicPr>
          <p:nvPr/>
        </p:nvPicPr>
        <p:blipFill>
          <a:blip r:embed="rId5"/>
          <a:stretch>
            <a:fillRect/>
          </a:stretch>
        </p:blipFill>
        <p:spPr>
          <a:xfrm>
            <a:off x="3383280" y="3099816"/>
            <a:ext cx="374904" cy="374904"/>
          </a:xfrm>
          <a:prstGeom prst="rect">
            <a:avLst/>
          </a:prstGeom>
        </p:spPr>
      </p:pic>
      <p:sp>
        <p:nvSpPr>
          <p:cNvPr id="28" name="Text 21"/>
          <p:cNvSpPr/>
          <p:nvPr/>
        </p:nvSpPr>
        <p:spPr>
          <a:xfrm>
            <a:off x="3913632" y="3035808"/>
            <a:ext cx="1920240" cy="502920"/>
          </a:xfrm>
          <a:prstGeom prst="rect">
            <a:avLst/>
          </a:prstGeom>
          <a:noFill/>
          <a:ln/>
        </p:spPr>
        <p:txBody>
          <a:bodyPr wrap="square" lIns="0" tIns="0" rIns="0" bIns="0" rtlCol="0" anchor="ctr"/>
          <a:lstStyle/>
          <a:p>
            <a:pPr indent="0" marL="0">
              <a:buNone/>
            </a:pPr>
            <a:r>
              <a:rPr lang="en-US" sz="1200" b="1" dirty="0">
                <a:solidFill>
                  <a:srgbClr val="26A69A"/>
                </a:solidFill>
                <a:latin typeface="Calibri" pitchFamily="34" charset="0"/>
                <a:ea typeface="Calibri" pitchFamily="34" charset="-122"/>
                <a:cs typeface="Calibri" pitchFamily="34" charset="-120"/>
              </a:rPr>
              <a:t>Quality Scoring</a:t>
            </a:r>
            <a:endParaRPr lang="en-US" sz="1200" dirty="0"/>
          </a:p>
        </p:txBody>
      </p:sp>
      <p:sp>
        <p:nvSpPr>
          <p:cNvPr id="29" name="Text 22"/>
          <p:cNvSpPr/>
          <p:nvPr/>
        </p:nvSpPr>
        <p:spPr>
          <a:xfrm>
            <a:off x="3337560" y="3611880"/>
            <a:ext cx="2478024" cy="9144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Before sending to the output LLM, the optimizer assigns a quality score to the rewritten prompt. Low-scoring prompts are re-optimized automatically.</a:t>
            </a:r>
            <a:endParaRPr lang="en-US" sz="1000" dirty="0"/>
          </a:p>
        </p:txBody>
      </p:sp>
      <p:sp>
        <p:nvSpPr>
          <p:cNvPr id="30" name="Shape 23"/>
          <p:cNvSpPr/>
          <p:nvPr/>
        </p:nvSpPr>
        <p:spPr>
          <a:xfrm>
            <a:off x="6135624" y="2926080"/>
            <a:ext cx="269748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31" name="Shape 24"/>
          <p:cNvSpPr/>
          <p:nvPr/>
        </p:nvSpPr>
        <p:spPr>
          <a:xfrm>
            <a:off x="6227064" y="3035808"/>
            <a:ext cx="502920" cy="502920"/>
          </a:xfrm>
          <a:prstGeom prst="ellipse">
            <a:avLst/>
          </a:prstGeom>
          <a:solidFill>
            <a:srgbClr val="E53935"/>
          </a:solidFill>
          <a:ln/>
        </p:spPr>
      </p:sp>
      <p:pic>
        <p:nvPicPr>
          <p:cNvPr id="32" name="Image 5" descr="preencoded.png">    </p:cNvPr>
          <p:cNvPicPr>
            <a:picLocks noChangeAspect="1"/>
          </p:cNvPicPr>
          <p:nvPr/>
        </p:nvPicPr>
        <p:blipFill>
          <a:blip r:embed="rId6"/>
          <a:stretch>
            <a:fillRect/>
          </a:stretch>
        </p:blipFill>
        <p:spPr>
          <a:xfrm>
            <a:off x="6291072" y="3099816"/>
            <a:ext cx="374904" cy="374904"/>
          </a:xfrm>
          <a:prstGeom prst="rect">
            <a:avLst/>
          </a:prstGeom>
        </p:spPr>
      </p:pic>
      <p:sp>
        <p:nvSpPr>
          <p:cNvPr id="33" name="Text 25"/>
          <p:cNvSpPr/>
          <p:nvPr/>
        </p:nvSpPr>
        <p:spPr>
          <a:xfrm>
            <a:off x="6821424" y="3035808"/>
            <a:ext cx="1920240" cy="502920"/>
          </a:xfrm>
          <a:prstGeom prst="rect">
            <a:avLst/>
          </a:prstGeom>
          <a:noFill/>
          <a:ln/>
        </p:spPr>
        <p:txBody>
          <a:bodyPr wrap="square" lIns="0" tIns="0" rIns="0" bIns="0" rtlCol="0" anchor="ctr"/>
          <a:lstStyle/>
          <a:p>
            <a:pPr indent="0" marL="0">
              <a:buNone/>
            </a:pPr>
            <a:r>
              <a:rPr lang="en-US" sz="1200" b="1" dirty="0">
                <a:solidFill>
                  <a:srgbClr val="E53935"/>
                </a:solidFill>
                <a:latin typeface="Calibri" pitchFamily="34" charset="0"/>
                <a:ea typeface="Calibri" pitchFamily="34" charset="-122"/>
                <a:cs typeface="Calibri" pitchFamily="34" charset="-120"/>
              </a:rPr>
              <a:t>Gap Detection</a:t>
            </a:r>
            <a:endParaRPr lang="en-US" sz="1200" dirty="0"/>
          </a:p>
        </p:txBody>
      </p:sp>
      <p:sp>
        <p:nvSpPr>
          <p:cNvPr id="34" name="Text 26"/>
          <p:cNvSpPr/>
          <p:nvPr/>
        </p:nvSpPr>
        <p:spPr>
          <a:xfrm>
            <a:off x="6245352" y="3611880"/>
            <a:ext cx="2478024" cy="9144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Classifies prompts on 5 dimensions: Role, Task, Context, Format, Constraints. Missing dimensions are filled intelligently using learned patterns.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565C0"/>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1565C0"/>
                </a:solidFill>
                <a:latin typeface="Calibri" pitchFamily="34" charset="0"/>
                <a:ea typeface="Calibri" pitchFamily="34" charset="-122"/>
                <a:cs typeface="Calibri" pitchFamily="34" charset="-120"/>
              </a:rPr>
              <a:t>Use Case Walkthrough</a:t>
            </a:r>
            <a:endParaRPr lang="en-US" sz="26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08  |  Real Business Scenarios</a:t>
            </a:r>
            <a:endParaRPr lang="en-US" sz="1000" dirty="0"/>
          </a:p>
        </p:txBody>
      </p:sp>
      <p:sp>
        <p:nvSpPr>
          <p:cNvPr id="5" name="Shape 3"/>
          <p:cNvSpPr/>
          <p:nvPr/>
        </p:nvSpPr>
        <p:spPr>
          <a:xfrm>
            <a:off x="320040" y="987552"/>
            <a:ext cx="8503920" cy="1207008"/>
          </a:xfrm>
          <a:prstGeom prst="roundRect">
            <a:avLst>
              <a:gd name="adj" fmla="val 6061"/>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411480" y="1097280"/>
            <a:ext cx="594360" cy="594360"/>
          </a:xfrm>
          <a:prstGeom prst="ellipse">
            <a:avLst/>
          </a:prstGeom>
          <a:solidFill>
            <a:srgbClr val="1565C0"/>
          </a:solidFill>
          <a:ln/>
        </p:spPr>
      </p:sp>
      <p:pic>
        <p:nvPicPr>
          <p:cNvPr id="7" name="Image 0" descr="preencoded.png">    </p:cNvPr>
          <p:cNvPicPr>
            <a:picLocks noChangeAspect="1"/>
          </p:cNvPicPr>
          <p:nvPr/>
        </p:nvPicPr>
        <p:blipFill>
          <a:blip r:embed="rId1"/>
          <a:stretch>
            <a:fillRect/>
          </a:stretch>
        </p:blipFill>
        <p:spPr>
          <a:xfrm>
            <a:off x="475488" y="1161288"/>
            <a:ext cx="466344" cy="466344"/>
          </a:xfrm>
          <a:prstGeom prst="rect">
            <a:avLst/>
          </a:prstGeom>
        </p:spPr>
      </p:pic>
      <p:sp>
        <p:nvSpPr>
          <p:cNvPr id="8" name="Text 5"/>
          <p:cNvSpPr/>
          <p:nvPr/>
        </p:nvSpPr>
        <p:spPr>
          <a:xfrm>
            <a:off x="1097280" y="1051560"/>
            <a:ext cx="4114800" cy="292608"/>
          </a:xfrm>
          <a:prstGeom prst="rect">
            <a:avLst/>
          </a:prstGeom>
          <a:noFill/>
          <a:ln/>
        </p:spPr>
        <p:txBody>
          <a:bodyPr wrap="square" lIns="0" tIns="0" rIns="0" bIns="0" rtlCol="0" anchor="ctr"/>
          <a:lstStyle/>
          <a:p>
            <a:pPr indent="0" marL="0">
              <a:buNone/>
            </a:pPr>
            <a:r>
              <a:rPr lang="en-US" sz="1300" b="1" dirty="0">
                <a:solidFill>
                  <a:srgbClr val="1565C0"/>
                </a:solidFill>
                <a:latin typeface="Calibri" pitchFamily="34" charset="0"/>
                <a:ea typeface="Calibri" pitchFamily="34" charset="-122"/>
                <a:cs typeface="Calibri" pitchFamily="34" charset="-120"/>
              </a:rPr>
              <a:t>Email Drafting  —  Business Users</a:t>
            </a:r>
            <a:endParaRPr lang="en-US" sz="1300" dirty="0"/>
          </a:p>
        </p:txBody>
      </p:sp>
      <p:sp>
        <p:nvSpPr>
          <p:cNvPr id="9" name="Text 6"/>
          <p:cNvSpPr/>
          <p:nvPr/>
        </p:nvSpPr>
        <p:spPr>
          <a:xfrm>
            <a:off x="1097280" y="1371600"/>
            <a:ext cx="3566160" cy="256032"/>
          </a:xfrm>
          <a:prstGeom prst="rect">
            <a:avLst/>
          </a:prstGeom>
          <a:noFill/>
          <a:ln/>
        </p:spPr>
        <p:txBody>
          <a:bodyPr wrap="square" lIns="0" tIns="0" rIns="0" bIns="0" rtlCol="0" anchor="ctr"/>
          <a:lstStyle/>
          <a:p>
            <a:pPr indent="0" marL="0">
              <a:buNone/>
            </a:pPr>
            <a:r>
              <a:rPr lang="en-US" sz="1000" i="1" dirty="0">
                <a:solidFill>
                  <a:srgbClr val="E53935"/>
                </a:solidFill>
                <a:latin typeface="Calibri" pitchFamily="34" charset="0"/>
                <a:ea typeface="Calibri" pitchFamily="34" charset="-122"/>
                <a:cs typeface="Calibri" pitchFamily="34" charset="-120"/>
              </a:rPr>
              <a:t>Raw: "Write an email to the client"</a:t>
            </a:r>
            <a:endParaRPr lang="en-US" sz="1000" dirty="0"/>
          </a:p>
        </p:txBody>
      </p:sp>
      <p:sp>
        <p:nvSpPr>
          <p:cNvPr id="10" name="Text 7"/>
          <p:cNvSpPr/>
          <p:nvPr/>
        </p:nvSpPr>
        <p:spPr>
          <a:xfrm>
            <a:off x="1097280" y="1645920"/>
            <a:ext cx="4572000" cy="420624"/>
          </a:xfrm>
          <a:prstGeom prst="rect">
            <a:avLst/>
          </a:prstGeom>
          <a:noFill/>
          <a:ln/>
        </p:spPr>
        <p:txBody>
          <a:bodyPr wrap="square" lIns="0" tIns="0" rIns="0" bIns="0" rtlCol="0" anchor="ctr"/>
          <a:lstStyle/>
          <a:p>
            <a:pPr indent="0" marL="0">
              <a:buNone/>
            </a:pPr>
            <a:r>
              <a:rPr lang="en-US" sz="1000" dirty="0">
                <a:solidFill>
                  <a:srgbClr val="1565C0"/>
                </a:solidFill>
                <a:latin typeface="Calibri" pitchFamily="34" charset="0"/>
                <a:ea typeface="Calibri" pitchFamily="34" charset="-122"/>
                <a:cs typeface="Calibri" pitchFamily="34" charset="-120"/>
              </a:rPr>
              <a:t>Optimized: "Act as a B2B account manager. Write a formal follow-up email to a client after a missed deadline. Tone: empat…</a:t>
            </a:r>
            <a:endParaRPr lang="en-US" sz="1000" dirty="0"/>
          </a:p>
        </p:txBody>
      </p:sp>
      <p:sp>
        <p:nvSpPr>
          <p:cNvPr id="11" name="Shape 8"/>
          <p:cNvSpPr/>
          <p:nvPr/>
        </p:nvSpPr>
        <p:spPr>
          <a:xfrm>
            <a:off x="5806440" y="1078992"/>
            <a:ext cx="2926080" cy="1024128"/>
          </a:xfrm>
          <a:prstGeom prst="roundRect">
            <a:avLst>
              <a:gd name="adj" fmla="val 6250"/>
            </a:avLst>
          </a:prstGeom>
          <a:solidFill>
            <a:srgbClr val="EAF4FB"/>
          </a:solidFill>
          <a:ln/>
        </p:spPr>
      </p:sp>
      <p:sp>
        <p:nvSpPr>
          <p:cNvPr id="12" name="Text 9"/>
          <p:cNvSpPr/>
          <p:nvPr/>
        </p:nvSpPr>
        <p:spPr>
          <a:xfrm>
            <a:off x="5897880" y="1097280"/>
            <a:ext cx="2743200" cy="228600"/>
          </a:xfrm>
          <a:prstGeom prst="rect">
            <a:avLst/>
          </a:prstGeom>
          <a:noFill/>
          <a:ln/>
        </p:spPr>
        <p:txBody>
          <a:bodyPr wrap="square" lIns="0" tIns="0" rIns="0" bIns="0" rtlCol="0" anchor="ctr"/>
          <a:lstStyle/>
          <a:p>
            <a:pPr indent="0" marL="0">
              <a:buNone/>
            </a:pPr>
            <a:r>
              <a:rPr lang="en-US" sz="1000" b="1" dirty="0">
                <a:solidFill>
                  <a:srgbClr val="26A69A"/>
                </a:solidFill>
                <a:latin typeface="Calibri" pitchFamily="34" charset="0"/>
                <a:ea typeface="Calibri" pitchFamily="34" charset="-122"/>
                <a:cs typeface="Calibri" pitchFamily="34" charset="-120"/>
              </a:rPr>
              <a:t>✅ Result:</a:t>
            </a:r>
            <a:endParaRPr lang="en-US" sz="1000" dirty="0"/>
          </a:p>
        </p:txBody>
      </p:sp>
      <p:sp>
        <p:nvSpPr>
          <p:cNvPr id="13" name="Text 10"/>
          <p:cNvSpPr/>
          <p:nvPr/>
        </p:nvSpPr>
        <p:spPr>
          <a:xfrm>
            <a:off x="5897880" y="1335024"/>
            <a:ext cx="2743200" cy="6858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Contextually accurate, professionally toned, action-oriented emails — no rework needed</a:t>
            </a:r>
            <a:endParaRPr lang="en-US" sz="1000" dirty="0"/>
          </a:p>
        </p:txBody>
      </p:sp>
      <p:sp>
        <p:nvSpPr>
          <p:cNvPr id="14" name="Shape 11"/>
          <p:cNvSpPr/>
          <p:nvPr/>
        </p:nvSpPr>
        <p:spPr>
          <a:xfrm>
            <a:off x="320040" y="2331720"/>
            <a:ext cx="8503920" cy="1207008"/>
          </a:xfrm>
          <a:prstGeom prst="roundRect">
            <a:avLst>
              <a:gd name="adj" fmla="val 6061"/>
            </a:avLst>
          </a:prstGeom>
          <a:solidFill>
            <a:srgbClr val="FFFFFF"/>
          </a:solidFill>
          <a:ln/>
          <a:effectLst>
            <a:outerShdw sx="100000" sy="100000" kx="0" ky="0" algn="bl" rotWithShape="0" blurRad="101600" dist="38100" dir="2700000">
              <a:srgbClr val="000000">
                <a:alpha val="12000"/>
              </a:srgbClr>
            </a:outerShdw>
          </a:effectLst>
        </p:spPr>
      </p:sp>
      <p:sp>
        <p:nvSpPr>
          <p:cNvPr id="15" name="Shape 12"/>
          <p:cNvSpPr/>
          <p:nvPr/>
        </p:nvSpPr>
        <p:spPr>
          <a:xfrm>
            <a:off x="411480" y="2441448"/>
            <a:ext cx="594360" cy="594360"/>
          </a:xfrm>
          <a:prstGeom prst="ellipse">
            <a:avLst/>
          </a:prstGeom>
          <a:solidFill>
            <a:srgbClr val="26A69A"/>
          </a:solidFill>
          <a:ln/>
        </p:spPr>
      </p:sp>
      <p:pic>
        <p:nvPicPr>
          <p:cNvPr id="16" name="Image 1" descr="preencoded.png">    </p:cNvPr>
          <p:cNvPicPr>
            <a:picLocks noChangeAspect="1"/>
          </p:cNvPicPr>
          <p:nvPr/>
        </p:nvPicPr>
        <p:blipFill>
          <a:blip r:embed="rId2"/>
          <a:stretch>
            <a:fillRect/>
          </a:stretch>
        </p:blipFill>
        <p:spPr>
          <a:xfrm>
            <a:off x="475488" y="2505456"/>
            <a:ext cx="466344" cy="466344"/>
          </a:xfrm>
          <a:prstGeom prst="rect">
            <a:avLst/>
          </a:prstGeom>
        </p:spPr>
      </p:pic>
      <p:sp>
        <p:nvSpPr>
          <p:cNvPr id="17" name="Text 13"/>
          <p:cNvSpPr/>
          <p:nvPr/>
        </p:nvSpPr>
        <p:spPr>
          <a:xfrm>
            <a:off x="1097280" y="2395728"/>
            <a:ext cx="4114800" cy="292608"/>
          </a:xfrm>
          <a:prstGeom prst="rect">
            <a:avLst/>
          </a:prstGeom>
          <a:noFill/>
          <a:ln/>
        </p:spPr>
        <p:txBody>
          <a:bodyPr wrap="square" lIns="0" tIns="0" rIns="0" bIns="0" rtlCol="0" anchor="ctr"/>
          <a:lstStyle/>
          <a:p>
            <a:pPr indent="0" marL="0">
              <a:buNone/>
            </a:pPr>
            <a:r>
              <a:rPr lang="en-US" sz="1300" b="1" dirty="0">
                <a:solidFill>
                  <a:srgbClr val="26A69A"/>
                </a:solidFill>
                <a:latin typeface="Calibri" pitchFamily="34" charset="0"/>
                <a:ea typeface="Calibri" pitchFamily="34" charset="-122"/>
                <a:cs typeface="Calibri" pitchFamily="34" charset="-120"/>
              </a:rPr>
              <a:t>Customer Service Response  —  Support Agents</a:t>
            </a:r>
            <a:endParaRPr lang="en-US" sz="1300" dirty="0"/>
          </a:p>
        </p:txBody>
      </p:sp>
      <p:sp>
        <p:nvSpPr>
          <p:cNvPr id="18" name="Text 14"/>
          <p:cNvSpPr/>
          <p:nvPr/>
        </p:nvSpPr>
        <p:spPr>
          <a:xfrm>
            <a:off x="1097280" y="2715768"/>
            <a:ext cx="3566160" cy="256032"/>
          </a:xfrm>
          <a:prstGeom prst="rect">
            <a:avLst/>
          </a:prstGeom>
          <a:noFill/>
          <a:ln/>
        </p:spPr>
        <p:txBody>
          <a:bodyPr wrap="square" lIns="0" tIns="0" rIns="0" bIns="0" rtlCol="0" anchor="ctr"/>
          <a:lstStyle/>
          <a:p>
            <a:pPr indent="0" marL="0">
              <a:buNone/>
            </a:pPr>
            <a:r>
              <a:rPr lang="en-US" sz="1000" i="1" dirty="0">
                <a:solidFill>
                  <a:srgbClr val="E53935"/>
                </a:solidFill>
                <a:latin typeface="Calibri" pitchFamily="34" charset="0"/>
                <a:ea typeface="Calibri" pitchFamily="34" charset="-122"/>
                <a:cs typeface="Calibri" pitchFamily="34" charset="-120"/>
              </a:rPr>
              <a:t>Raw: "Reply to the angry customer"</a:t>
            </a:r>
            <a:endParaRPr lang="en-US" sz="1000" dirty="0"/>
          </a:p>
        </p:txBody>
      </p:sp>
      <p:sp>
        <p:nvSpPr>
          <p:cNvPr id="19" name="Text 15"/>
          <p:cNvSpPr/>
          <p:nvPr/>
        </p:nvSpPr>
        <p:spPr>
          <a:xfrm>
            <a:off x="1097280" y="2990088"/>
            <a:ext cx="4572000" cy="420624"/>
          </a:xfrm>
          <a:prstGeom prst="rect">
            <a:avLst/>
          </a:prstGeom>
          <a:noFill/>
          <a:ln/>
        </p:spPr>
        <p:txBody>
          <a:bodyPr wrap="square" lIns="0" tIns="0" rIns="0" bIns="0" rtlCol="0" anchor="ctr"/>
          <a:lstStyle/>
          <a:p>
            <a:pPr indent="0" marL="0">
              <a:buNone/>
            </a:pPr>
            <a:r>
              <a:rPr lang="en-US" sz="1000" dirty="0">
                <a:solidFill>
                  <a:srgbClr val="1565C0"/>
                </a:solidFill>
                <a:latin typeface="Calibri" pitchFamily="34" charset="0"/>
                <a:ea typeface="Calibri" pitchFamily="34" charset="-122"/>
                <a:cs typeface="Calibri" pitchFamily="34" charset="-120"/>
              </a:rPr>
              <a:t>Optimized: "Act as a senior support agent for a SaaS company. Respond to a frustrated customer about a billing overcharge…</a:t>
            </a:r>
            <a:endParaRPr lang="en-US" sz="1000" dirty="0"/>
          </a:p>
        </p:txBody>
      </p:sp>
      <p:sp>
        <p:nvSpPr>
          <p:cNvPr id="20" name="Shape 16"/>
          <p:cNvSpPr/>
          <p:nvPr/>
        </p:nvSpPr>
        <p:spPr>
          <a:xfrm>
            <a:off x="5806440" y="2423160"/>
            <a:ext cx="2926080" cy="1024128"/>
          </a:xfrm>
          <a:prstGeom prst="roundRect">
            <a:avLst>
              <a:gd name="adj" fmla="val 6250"/>
            </a:avLst>
          </a:prstGeom>
          <a:solidFill>
            <a:srgbClr val="EAF4FB"/>
          </a:solidFill>
          <a:ln/>
        </p:spPr>
      </p:sp>
      <p:sp>
        <p:nvSpPr>
          <p:cNvPr id="21" name="Text 17"/>
          <p:cNvSpPr/>
          <p:nvPr/>
        </p:nvSpPr>
        <p:spPr>
          <a:xfrm>
            <a:off x="5897880" y="2441448"/>
            <a:ext cx="2743200" cy="228600"/>
          </a:xfrm>
          <a:prstGeom prst="rect">
            <a:avLst/>
          </a:prstGeom>
          <a:noFill/>
          <a:ln/>
        </p:spPr>
        <p:txBody>
          <a:bodyPr wrap="square" lIns="0" tIns="0" rIns="0" bIns="0" rtlCol="0" anchor="ctr"/>
          <a:lstStyle/>
          <a:p>
            <a:pPr indent="0" marL="0">
              <a:buNone/>
            </a:pPr>
            <a:r>
              <a:rPr lang="en-US" sz="1000" b="1" dirty="0">
                <a:solidFill>
                  <a:srgbClr val="26A69A"/>
                </a:solidFill>
                <a:latin typeface="Calibri" pitchFamily="34" charset="0"/>
                <a:ea typeface="Calibri" pitchFamily="34" charset="-122"/>
                <a:cs typeface="Calibri" pitchFamily="34" charset="-120"/>
              </a:rPr>
              <a:t>✅ Result:</a:t>
            </a:r>
            <a:endParaRPr lang="en-US" sz="1000" dirty="0"/>
          </a:p>
        </p:txBody>
      </p:sp>
      <p:sp>
        <p:nvSpPr>
          <p:cNvPr id="22" name="Text 18"/>
          <p:cNvSpPr/>
          <p:nvPr/>
        </p:nvSpPr>
        <p:spPr>
          <a:xfrm>
            <a:off x="5897880" y="2679192"/>
            <a:ext cx="2743200" cy="6858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Consistent, compliant, empathetic responses reducing escalation rates and reopen tickets</a:t>
            </a:r>
            <a:endParaRPr lang="en-US" sz="1000" dirty="0"/>
          </a:p>
        </p:txBody>
      </p:sp>
      <p:sp>
        <p:nvSpPr>
          <p:cNvPr id="23" name="Shape 19"/>
          <p:cNvSpPr/>
          <p:nvPr/>
        </p:nvSpPr>
        <p:spPr>
          <a:xfrm>
            <a:off x="320040" y="3675888"/>
            <a:ext cx="8503920" cy="1207008"/>
          </a:xfrm>
          <a:prstGeom prst="roundRect">
            <a:avLst>
              <a:gd name="adj" fmla="val 6061"/>
            </a:avLst>
          </a:prstGeom>
          <a:solidFill>
            <a:srgbClr val="FFFFFF"/>
          </a:solidFill>
          <a:ln/>
          <a:effectLst>
            <a:outerShdw sx="100000" sy="100000" kx="0" ky="0" algn="bl" rotWithShape="0" blurRad="101600" dist="38100" dir="2700000">
              <a:srgbClr val="000000">
                <a:alpha val="12000"/>
              </a:srgbClr>
            </a:outerShdw>
          </a:effectLst>
        </p:spPr>
      </p:sp>
      <p:sp>
        <p:nvSpPr>
          <p:cNvPr id="24" name="Shape 20"/>
          <p:cNvSpPr/>
          <p:nvPr/>
        </p:nvSpPr>
        <p:spPr>
          <a:xfrm>
            <a:off x="411480" y="3785616"/>
            <a:ext cx="594360" cy="594360"/>
          </a:xfrm>
          <a:prstGeom prst="ellipse">
            <a:avLst/>
          </a:prstGeom>
          <a:solidFill>
            <a:srgbClr val="00BCD4"/>
          </a:solidFill>
          <a:ln/>
        </p:spPr>
      </p:sp>
      <p:pic>
        <p:nvPicPr>
          <p:cNvPr id="25" name="Image 2" descr="preencoded.png">    </p:cNvPr>
          <p:cNvPicPr>
            <a:picLocks noChangeAspect="1"/>
          </p:cNvPicPr>
          <p:nvPr/>
        </p:nvPicPr>
        <p:blipFill>
          <a:blip r:embed="rId3"/>
          <a:stretch>
            <a:fillRect/>
          </a:stretch>
        </p:blipFill>
        <p:spPr>
          <a:xfrm>
            <a:off x="475488" y="3849624"/>
            <a:ext cx="466344" cy="466344"/>
          </a:xfrm>
          <a:prstGeom prst="rect">
            <a:avLst/>
          </a:prstGeom>
        </p:spPr>
      </p:pic>
      <p:sp>
        <p:nvSpPr>
          <p:cNvPr id="26" name="Text 21"/>
          <p:cNvSpPr/>
          <p:nvPr/>
        </p:nvSpPr>
        <p:spPr>
          <a:xfrm>
            <a:off x="1097280" y="3739896"/>
            <a:ext cx="4114800" cy="292608"/>
          </a:xfrm>
          <a:prstGeom prst="rect">
            <a:avLst/>
          </a:prstGeom>
          <a:noFill/>
          <a:ln/>
        </p:spPr>
        <p:txBody>
          <a:bodyPr wrap="square" lIns="0" tIns="0" rIns="0" bIns="0" rtlCol="0" anchor="ctr"/>
          <a:lstStyle/>
          <a:p>
            <a:pPr indent="0" marL="0">
              <a:buNone/>
            </a:pPr>
            <a:r>
              <a:rPr lang="en-US" sz="1300" b="1" dirty="0">
                <a:solidFill>
                  <a:srgbClr val="00BCD4"/>
                </a:solidFill>
                <a:latin typeface="Calibri" pitchFamily="34" charset="0"/>
                <a:ea typeface="Calibri" pitchFamily="34" charset="-122"/>
                <a:cs typeface="Calibri" pitchFamily="34" charset="-120"/>
              </a:rPr>
              <a:t>Document Summarization  —  Analysts &amp; Managers</a:t>
            </a:r>
            <a:endParaRPr lang="en-US" sz="1300" dirty="0"/>
          </a:p>
        </p:txBody>
      </p:sp>
      <p:sp>
        <p:nvSpPr>
          <p:cNvPr id="27" name="Text 22"/>
          <p:cNvSpPr/>
          <p:nvPr/>
        </p:nvSpPr>
        <p:spPr>
          <a:xfrm>
            <a:off x="1097280" y="4059936"/>
            <a:ext cx="3566160" cy="256032"/>
          </a:xfrm>
          <a:prstGeom prst="rect">
            <a:avLst/>
          </a:prstGeom>
          <a:noFill/>
          <a:ln/>
        </p:spPr>
        <p:txBody>
          <a:bodyPr wrap="square" lIns="0" tIns="0" rIns="0" bIns="0" rtlCol="0" anchor="ctr"/>
          <a:lstStyle/>
          <a:p>
            <a:pPr indent="0" marL="0">
              <a:buNone/>
            </a:pPr>
            <a:r>
              <a:rPr lang="en-US" sz="1000" i="1" dirty="0">
                <a:solidFill>
                  <a:srgbClr val="E53935"/>
                </a:solidFill>
                <a:latin typeface="Calibri" pitchFamily="34" charset="0"/>
                <a:ea typeface="Calibri" pitchFamily="34" charset="-122"/>
                <a:cs typeface="Calibri" pitchFamily="34" charset="-120"/>
              </a:rPr>
              <a:t>Raw: "Summarize this report"</a:t>
            </a:r>
            <a:endParaRPr lang="en-US" sz="1000" dirty="0"/>
          </a:p>
        </p:txBody>
      </p:sp>
      <p:sp>
        <p:nvSpPr>
          <p:cNvPr id="28" name="Text 23"/>
          <p:cNvSpPr/>
          <p:nvPr/>
        </p:nvSpPr>
        <p:spPr>
          <a:xfrm>
            <a:off x="1097280" y="4334256"/>
            <a:ext cx="4572000" cy="420624"/>
          </a:xfrm>
          <a:prstGeom prst="rect">
            <a:avLst/>
          </a:prstGeom>
          <a:noFill/>
          <a:ln/>
        </p:spPr>
        <p:txBody>
          <a:bodyPr wrap="square" lIns="0" tIns="0" rIns="0" bIns="0" rtlCol="0" anchor="ctr"/>
          <a:lstStyle/>
          <a:p>
            <a:pPr indent="0" marL="0">
              <a:buNone/>
            </a:pPr>
            <a:r>
              <a:rPr lang="en-US" sz="1000" dirty="0">
                <a:solidFill>
                  <a:srgbClr val="1565C0"/>
                </a:solidFill>
                <a:latin typeface="Calibri" pitchFamily="34" charset="0"/>
                <a:ea typeface="Calibri" pitchFamily="34" charset="-122"/>
                <a:cs typeface="Calibri" pitchFamily="34" charset="-120"/>
              </a:rPr>
              <a:t>Optimized: "You are a business analyst. Summarize the attached Q3 sales report for a C-suite audience. Include: top 3 fin…</a:t>
            </a:r>
            <a:endParaRPr lang="en-US" sz="1000" dirty="0"/>
          </a:p>
        </p:txBody>
      </p:sp>
      <p:sp>
        <p:nvSpPr>
          <p:cNvPr id="29" name="Shape 24"/>
          <p:cNvSpPr/>
          <p:nvPr/>
        </p:nvSpPr>
        <p:spPr>
          <a:xfrm>
            <a:off x="5806440" y="3767328"/>
            <a:ext cx="2926080" cy="1024128"/>
          </a:xfrm>
          <a:prstGeom prst="roundRect">
            <a:avLst>
              <a:gd name="adj" fmla="val 6250"/>
            </a:avLst>
          </a:prstGeom>
          <a:solidFill>
            <a:srgbClr val="EAF4FB"/>
          </a:solidFill>
          <a:ln/>
        </p:spPr>
      </p:sp>
      <p:sp>
        <p:nvSpPr>
          <p:cNvPr id="30" name="Text 25"/>
          <p:cNvSpPr/>
          <p:nvPr/>
        </p:nvSpPr>
        <p:spPr>
          <a:xfrm>
            <a:off x="5897880" y="3785616"/>
            <a:ext cx="2743200" cy="228600"/>
          </a:xfrm>
          <a:prstGeom prst="rect">
            <a:avLst/>
          </a:prstGeom>
          <a:noFill/>
          <a:ln/>
        </p:spPr>
        <p:txBody>
          <a:bodyPr wrap="square" lIns="0" tIns="0" rIns="0" bIns="0" rtlCol="0" anchor="ctr"/>
          <a:lstStyle/>
          <a:p>
            <a:pPr indent="0" marL="0">
              <a:buNone/>
            </a:pPr>
            <a:r>
              <a:rPr lang="en-US" sz="1000" b="1" dirty="0">
                <a:solidFill>
                  <a:srgbClr val="26A69A"/>
                </a:solidFill>
                <a:latin typeface="Calibri" pitchFamily="34" charset="0"/>
                <a:ea typeface="Calibri" pitchFamily="34" charset="-122"/>
                <a:cs typeface="Calibri" pitchFamily="34" charset="-120"/>
              </a:rPr>
              <a:t>✅ Result:</a:t>
            </a:r>
            <a:endParaRPr lang="en-US" sz="1000" dirty="0"/>
          </a:p>
        </p:txBody>
      </p:sp>
      <p:sp>
        <p:nvSpPr>
          <p:cNvPr id="31" name="Text 26"/>
          <p:cNvSpPr/>
          <p:nvPr/>
        </p:nvSpPr>
        <p:spPr>
          <a:xfrm>
            <a:off x="5897880" y="4023360"/>
            <a:ext cx="2743200" cy="685800"/>
          </a:xfrm>
          <a:prstGeom prst="rect">
            <a:avLst/>
          </a:prstGeom>
          <a:noFill/>
          <a:ln/>
        </p:spPr>
        <p:txBody>
          <a:bodyPr wrap="square" lIns="0" tIns="0" rIns="0" bIns="0" rtlCol="0" anchor="ctr"/>
          <a:lstStyle/>
          <a:p>
            <a:pPr indent="0" marL="0">
              <a:buNone/>
            </a:pPr>
            <a:r>
              <a:rPr lang="en-US" sz="1000" dirty="0">
                <a:solidFill>
                  <a:srgbClr val="1C2B3A"/>
                </a:solidFill>
                <a:latin typeface="Calibri" pitchFamily="34" charset="0"/>
                <a:ea typeface="Calibri" pitchFamily="34" charset="-122"/>
                <a:cs typeface="Calibri" pitchFamily="34" charset="-120"/>
              </a:rPr>
              <a:t>Executive-ready summaries delivered in the right format, first time, every time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565C0"/>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400" b="1" dirty="0">
                <a:solidFill>
                  <a:srgbClr val="1565C0"/>
                </a:solidFill>
                <a:latin typeface="Calibri" pitchFamily="34" charset="0"/>
                <a:ea typeface="Calibri" pitchFamily="34" charset="-122"/>
                <a:cs typeface="Calibri" pitchFamily="34" charset="-120"/>
              </a:rPr>
              <a:t>Before vs. After: Prompt Comparison Interface</a:t>
            </a:r>
            <a:endParaRPr lang="en-US" sz="24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09  |  Live Demo Concept — Customer Service Response Scenario</a:t>
            </a:r>
            <a:endParaRPr lang="en-US" sz="1000" dirty="0"/>
          </a:p>
        </p:txBody>
      </p:sp>
      <p:sp>
        <p:nvSpPr>
          <p:cNvPr id="5" name="Shape 3"/>
          <p:cNvSpPr/>
          <p:nvPr/>
        </p:nvSpPr>
        <p:spPr>
          <a:xfrm>
            <a:off x="274320" y="960120"/>
            <a:ext cx="4114800" cy="3931920"/>
          </a:xfrm>
          <a:prstGeom prst="roundRect">
            <a:avLst>
              <a:gd name="adj" fmla="val 2326"/>
            </a:avLst>
          </a:prstGeom>
          <a:solidFill>
            <a:srgbClr val="FFFFFF"/>
          </a:solidFill>
          <a:ln/>
          <a:effectLst>
            <a:outerShdw sx="100000" sy="100000" kx="0" ky="0" algn="bl" rotWithShape="0" blurRad="101600" dist="38100" dir="2700000">
              <a:srgbClr val="000000">
                <a:alpha val="12000"/>
              </a:srgbClr>
            </a:outerShdw>
          </a:effectLst>
        </p:spPr>
      </p:sp>
      <p:sp>
        <p:nvSpPr>
          <p:cNvPr id="6" name="Shape 4"/>
          <p:cNvSpPr/>
          <p:nvPr/>
        </p:nvSpPr>
        <p:spPr>
          <a:xfrm>
            <a:off x="274320" y="960120"/>
            <a:ext cx="4114800" cy="438912"/>
          </a:xfrm>
          <a:prstGeom prst="roundRect">
            <a:avLst>
              <a:gd name="adj" fmla="val 20833"/>
            </a:avLst>
          </a:prstGeom>
          <a:solidFill>
            <a:srgbClr val="E53935"/>
          </a:solidFill>
          <a:ln/>
        </p:spPr>
      </p:sp>
      <p:pic>
        <p:nvPicPr>
          <p:cNvPr id="7" name="Image 0" descr="preencoded.png">    </p:cNvPr>
          <p:cNvPicPr>
            <a:picLocks noChangeAspect="1"/>
          </p:cNvPicPr>
          <p:nvPr/>
        </p:nvPicPr>
        <p:blipFill>
          <a:blip r:embed="rId1"/>
          <a:stretch>
            <a:fillRect/>
          </a:stretch>
        </p:blipFill>
        <p:spPr>
          <a:xfrm>
            <a:off x="365760" y="1014984"/>
            <a:ext cx="301752" cy="301752"/>
          </a:xfrm>
          <a:prstGeom prst="rect">
            <a:avLst/>
          </a:prstGeom>
        </p:spPr>
      </p:pic>
      <p:sp>
        <p:nvSpPr>
          <p:cNvPr id="8" name="Text 5"/>
          <p:cNvSpPr/>
          <p:nvPr/>
        </p:nvSpPr>
        <p:spPr>
          <a:xfrm>
            <a:off x="731520" y="1014984"/>
            <a:ext cx="34747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BEFORE  —  Raw Prompt</a:t>
            </a:r>
            <a:endParaRPr lang="en-US" sz="1300" dirty="0"/>
          </a:p>
        </p:txBody>
      </p:sp>
      <p:sp>
        <p:nvSpPr>
          <p:cNvPr id="9" name="Text 6"/>
          <p:cNvSpPr/>
          <p:nvPr/>
        </p:nvSpPr>
        <p:spPr>
          <a:xfrm>
            <a:off x="411480" y="1508760"/>
            <a:ext cx="3840480" cy="256032"/>
          </a:xfrm>
          <a:prstGeom prst="rect">
            <a:avLst/>
          </a:prstGeom>
          <a:noFill/>
          <a:ln/>
        </p:spPr>
        <p:txBody>
          <a:bodyPr wrap="square" lIns="0" tIns="0" rIns="0" bIns="0" rtlCol="0" anchor="ctr"/>
          <a:lstStyle/>
          <a:p>
            <a:pPr indent="0" marL="0">
              <a:buNone/>
            </a:pPr>
            <a:r>
              <a:rPr lang="en-US" sz="1100" b="1" dirty="0">
                <a:solidFill>
                  <a:srgbClr val="E53935"/>
                </a:solidFill>
                <a:latin typeface="Calibri" pitchFamily="34" charset="0"/>
                <a:ea typeface="Calibri" pitchFamily="34" charset="-122"/>
                <a:cs typeface="Calibri" pitchFamily="34" charset="-120"/>
              </a:rPr>
              <a:t>User Input:</a:t>
            </a:r>
            <a:endParaRPr lang="en-US" sz="1100" dirty="0"/>
          </a:p>
        </p:txBody>
      </p:sp>
      <p:sp>
        <p:nvSpPr>
          <p:cNvPr id="10" name="Shape 7"/>
          <p:cNvSpPr/>
          <p:nvPr/>
        </p:nvSpPr>
        <p:spPr>
          <a:xfrm>
            <a:off x="411480" y="1783080"/>
            <a:ext cx="3794760" cy="457200"/>
          </a:xfrm>
          <a:prstGeom prst="roundRect">
            <a:avLst>
              <a:gd name="adj" fmla="val 12000"/>
            </a:avLst>
          </a:prstGeom>
          <a:solidFill>
            <a:srgbClr val="FFF3F3"/>
          </a:solidFill>
          <a:ln/>
        </p:spPr>
      </p:sp>
      <p:sp>
        <p:nvSpPr>
          <p:cNvPr id="11" name="Text 8"/>
          <p:cNvSpPr/>
          <p:nvPr/>
        </p:nvSpPr>
        <p:spPr>
          <a:xfrm>
            <a:off x="502920" y="1810512"/>
            <a:ext cx="3611880" cy="402336"/>
          </a:xfrm>
          <a:prstGeom prst="rect">
            <a:avLst/>
          </a:prstGeom>
          <a:noFill/>
          <a:ln/>
        </p:spPr>
        <p:txBody>
          <a:bodyPr wrap="square" lIns="0" tIns="0" rIns="0" bIns="0" rtlCol="0" anchor="ctr"/>
          <a:lstStyle/>
          <a:p>
            <a:pPr indent="0" marL="0">
              <a:buNone/>
            </a:pPr>
            <a:r>
              <a:rPr lang="en-US" sz="1200" i="1" dirty="0">
                <a:solidFill>
                  <a:srgbClr val="E53935"/>
                </a:solidFill>
                <a:latin typeface="Calibri" pitchFamily="34" charset="0"/>
                <a:ea typeface="Calibri" pitchFamily="34" charset="-122"/>
                <a:cs typeface="Calibri" pitchFamily="34" charset="-120"/>
              </a:rPr>
              <a:t>"Reply to the angry customer about their bill"</a:t>
            </a:r>
            <a:endParaRPr lang="en-US" sz="1200" dirty="0"/>
          </a:p>
        </p:txBody>
      </p:sp>
      <p:sp>
        <p:nvSpPr>
          <p:cNvPr id="12" name="Text 9"/>
          <p:cNvSpPr/>
          <p:nvPr/>
        </p:nvSpPr>
        <p:spPr>
          <a:xfrm>
            <a:off x="411480" y="2359152"/>
            <a:ext cx="3840480" cy="256032"/>
          </a:xfrm>
          <a:prstGeom prst="rect">
            <a:avLst/>
          </a:prstGeom>
          <a:noFill/>
          <a:ln/>
        </p:spPr>
        <p:txBody>
          <a:bodyPr wrap="square" lIns="0" tIns="0" rIns="0" bIns="0" rtlCol="0" anchor="ctr"/>
          <a:lstStyle/>
          <a:p>
            <a:pPr indent="0" marL="0">
              <a:buNone/>
            </a:pPr>
            <a:r>
              <a:rPr lang="en-US" sz="1100" b="1" dirty="0">
                <a:solidFill>
                  <a:srgbClr val="546E7A"/>
                </a:solidFill>
                <a:latin typeface="Calibri" pitchFamily="34" charset="0"/>
                <a:ea typeface="Calibri" pitchFamily="34" charset="-122"/>
                <a:cs typeface="Calibri" pitchFamily="34" charset="-120"/>
              </a:rPr>
              <a:t>AI Output (Unoptimized):</a:t>
            </a:r>
            <a:endParaRPr lang="en-US" sz="1100" dirty="0"/>
          </a:p>
        </p:txBody>
      </p:sp>
      <p:sp>
        <p:nvSpPr>
          <p:cNvPr id="13" name="Shape 10"/>
          <p:cNvSpPr/>
          <p:nvPr/>
        </p:nvSpPr>
        <p:spPr>
          <a:xfrm>
            <a:off x="411480" y="2633472"/>
            <a:ext cx="3794760" cy="2121408"/>
          </a:xfrm>
          <a:prstGeom prst="roundRect">
            <a:avLst>
              <a:gd name="adj" fmla="val 2586"/>
            </a:avLst>
          </a:prstGeom>
          <a:solidFill>
            <a:srgbClr val="F9F9F9"/>
          </a:solidFill>
          <a:ln/>
        </p:spPr>
      </p:sp>
      <p:sp>
        <p:nvSpPr>
          <p:cNvPr id="14" name="Text 11"/>
          <p:cNvSpPr/>
          <p:nvPr/>
        </p:nvSpPr>
        <p:spPr>
          <a:xfrm>
            <a:off x="502920" y="2697480"/>
            <a:ext cx="3611880" cy="196596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"Dear Customer,</a:t>
            </a:r>
            <a:endParaRPr lang="en-US" sz="1000" dirty="0"/>
          </a:p>
          <a:p>
            <a:pPr indent="0" marL="0">
              <a:buNone/>
            </a:pPr>
            <a:endParaRPr lang="en-US" sz="1000" dirty="0"/>
          </a:p>
          <a:p>
            <a:pPr indent="0" marL="0">
              <a:buNone/>
            </a:pPr>
            <a:r>
              <a:rPr lang="en-US" sz="1000" i="1" dirty="0">
                <a:solidFill>
                  <a:srgbClr val="546E7A"/>
                </a:solidFill>
                <a:latin typeface="Calibri" pitchFamily="34" charset="0"/>
                <a:ea typeface="Calibri" pitchFamily="34" charset="-122"/>
                <a:cs typeface="Calibri" pitchFamily="34" charset="-120"/>
              </a:rPr>
              <a:t>I am sorry to hear about your bill issue. This is frustrating. I will look into it.</a:t>
            </a:r>
            <a:endParaRPr lang="en-US" sz="1000" dirty="0"/>
          </a:p>
          <a:p>
            <a:pPr indent="0" marL="0">
              <a:buNone/>
            </a:pPr>
            <a:endParaRPr lang="en-US" sz="1000" dirty="0"/>
          </a:p>
          <a:p>
            <a:pPr indent="0" marL="0">
              <a:buNone/>
            </a:pPr>
            <a:r>
              <a:rPr lang="en-US" sz="1000" i="1" dirty="0">
                <a:solidFill>
                  <a:srgbClr val="546E7A"/>
                </a:solidFill>
                <a:latin typeface="Calibri" pitchFamily="34" charset="0"/>
                <a:ea typeface="Calibri" pitchFamily="34" charset="-122"/>
                <a:cs typeface="Calibri" pitchFamily="34" charset="-120"/>
              </a:rPr>
              <a:t>We take billing seriously and apologize. Please contact us at support@company.com if you have more questions.</a:t>
            </a:r>
            <a:endParaRPr lang="en-US" sz="1000" dirty="0"/>
          </a:p>
          <a:p>
            <a:pPr indent="0" marL="0">
              <a:buNone/>
            </a:pPr>
            <a:endParaRPr lang="en-US" sz="1000" dirty="0"/>
          </a:p>
          <a:p>
            <a:pPr indent="0" marL="0">
              <a:buNone/>
            </a:pPr>
            <a:r>
              <a:rPr lang="en-US" sz="1000" i="1" dirty="0">
                <a:solidFill>
                  <a:srgbClr val="546E7A"/>
                </a:solidFill>
                <a:latin typeface="Calibri" pitchFamily="34" charset="0"/>
                <a:ea typeface="Calibri" pitchFamily="34" charset="-122"/>
                <a:cs typeface="Calibri" pitchFamily="34" charset="-120"/>
              </a:rPr>
              <a:t>Regards"</a:t>
            </a:r>
            <a:endParaRPr lang="en-US" sz="1000" dirty="0"/>
          </a:p>
        </p:txBody>
      </p:sp>
      <p:sp>
        <p:nvSpPr>
          <p:cNvPr id="15" name="Text 12"/>
          <p:cNvSpPr/>
          <p:nvPr/>
        </p:nvSpPr>
        <p:spPr>
          <a:xfrm>
            <a:off x="411480" y="4754880"/>
            <a:ext cx="3794760" cy="228600"/>
          </a:xfrm>
          <a:prstGeom prst="rect">
            <a:avLst/>
          </a:prstGeom>
          <a:noFill/>
          <a:ln/>
        </p:spPr>
        <p:txBody>
          <a:bodyPr wrap="square" lIns="0" tIns="0" rIns="0" bIns="0" rtlCol="0" anchor="ctr"/>
          <a:lstStyle/>
          <a:p>
            <a:pPr indent="0" marL="0">
              <a:buNone/>
            </a:pPr>
            <a:r>
              <a:rPr lang="en-US" sz="900" b="1" dirty="0">
                <a:solidFill>
                  <a:srgbClr val="E53935"/>
                </a:solidFill>
                <a:latin typeface="Calibri" pitchFamily="34" charset="0"/>
                <a:ea typeface="Calibri" pitchFamily="34" charset="-122"/>
                <a:cs typeface="Calibri" pitchFamily="34" charset="-120"/>
              </a:rPr>
              <a:t>❌ Generic, no resolution, lacks empathy &amp; structure</a:t>
            </a:r>
            <a:endParaRPr lang="en-US" sz="900" dirty="0"/>
          </a:p>
        </p:txBody>
      </p:sp>
      <p:sp>
        <p:nvSpPr>
          <p:cNvPr id="16" name="Text 13"/>
          <p:cNvSpPr/>
          <p:nvPr/>
        </p:nvSpPr>
        <p:spPr>
          <a:xfrm>
            <a:off x="4434840" y="2560320"/>
            <a:ext cx="274320" cy="3657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7" name="Text 14"/>
          <p:cNvSpPr/>
          <p:nvPr/>
        </p:nvSpPr>
        <p:spPr>
          <a:xfrm>
            <a:off x="4407408" y="2971800"/>
            <a:ext cx="320040" cy="365760"/>
          </a:xfrm>
          <a:prstGeom prst="rect">
            <a:avLst/>
          </a:prstGeom>
          <a:noFill/>
          <a:ln/>
        </p:spPr>
        <p:txBody>
          <a:bodyPr wrap="square" lIns="0" tIns="0" rIns="0" bIns="0" rtlCol="0" anchor="ctr"/>
          <a:lstStyle/>
          <a:p>
            <a:pPr algn="ctr" indent="0" marL="0">
              <a:buNone/>
            </a:pPr>
            <a:r>
              <a:rPr lang="en-US" sz="2200" dirty="0">
                <a:solidFill>
                  <a:srgbClr val="1565C0"/>
                </a:solidFill>
              </a:rPr>
              <a:t>➔</a:t>
            </a:r>
            <a:endParaRPr lang="en-US" sz="2200" dirty="0"/>
          </a:p>
        </p:txBody>
      </p:sp>
      <p:sp>
        <p:nvSpPr>
          <p:cNvPr id="18" name="Text 15"/>
          <p:cNvSpPr/>
          <p:nvPr/>
        </p:nvSpPr>
        <p:spPr>
          <a:xfrm>
            <a:off x="4315968" y="3337560"/>
            <a:ext cx="502920" cy="365760"/>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Optimized</a:t>
            </a:r>
            <a:endParaRPr lang="en-US" sz="900" dirty="0"/>
          </a:p>
        </p:txBody>
      </p:sp>
      <p:sp>
        <p:nvSpPr>
          <p:cNvPr id="19" name="Shape 16"/>
          <p:cNvSpPr/>
          <p:nvPr/>
        </p:nvSpPr>
        <p:spPr>
          <a:xfrm>
            <a:off x="4754880" y="960120"/>
            <a:ext cx="4114800" cy="3931920"/>
          </a:xfrm>
          <a:prstGeom prst="roundRect">
            <a:avLst>
              <a:gd name="adj" fmla="val 2326"/>
            </a:avLst>
          </a:prstGeom>
          <a:solidFill>
            <a:srgbClr val="FFFFFF"/>
          </a:solidFill>
          <a:ln/>
          <a:effectLst>
            <a:outerShdw sx="100000" sy="100000" kx="0" ky="0" algn="bl" rotWithShape="0" blurRad="101600" dist="38100" dir="2700000">
              <a:srgbClr val="000000">
                <a:alpha val="12000"/>
              </a:srgbClr>
            </a:outerShdw>
          </a:effectLst>
        </p:spPr>
      </p:sp>
      <p:sp>
        <p:nvSpPr>
          <p:cNvPr id="20" name="Shape 17"/>
          <p:cNvSpPr/>
          <p:nvPr/>
        </p:nvSpPr>
        <p:spPr>
          <a:xfrm>
            <a:off x="4754880" y="960120"/>
            <a:ext cx="4114800" cy="438912"/>
          </a:xfrm>
          <a:prstGeom prst="roundRect">
            <a:avLst>
              <a:gd name="adj" fmla="val 20833"/>
            </a:avLst>
          </a:prstGeom>
          <a:solidFill>
            <a:srgbClr val="26A69A"/>
          </a:solidFill>
          <a:ln/>
        </p:spPr>
      </p:sp>
      <p:pic>
        <p:nvPicPr>
          <p:cNvPr id="21" name="Image 1" descr="preencoded.png">    </p:cNvPr>
          <p:cNvPicPr>
            <a:picLocks noChangeAspect="1"/>
          </p:cNvPicPr>
          <p:nvPr/>
        </p:nvPicPr>
        <p:blipFill>
          <a:blip r:embed="rId2"/>
          <a:stretch>
            <a:fillRect/>
          </a:stretch>
        </p:blipFill>
        <p:spPr>
          <a:xfrm>
            <a:off x="4846320" y="1014984"/>
            <a:ext cx="301752" cy="301752"/>
          </a:xfrm>
          <a:prstGeom prst="rect">
            <a:avLst/>
          </a:prstGeom>
        </p:spPr>
      </p:pic>
      <p:sp>
        <p:nvSpPr>
          <p:cNvPr id="22" name="Text 18"/>
          <p:cNvSpPr/>
          <p:nvPr/>
        </p:nvSpPr>
        <p:spPr>
          <a:xfrm>
            <a:off x="5212080" y="1014984"/>
            <a:ext cx="34747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AFTER  —  Optimized Prompt</a:t>
            </a:r>
            <a:endParaRPr lang="en-US" sz="1300" dirty="0"/>
          </a:p>
        </p:txBody>
      </p:sp>
      <p:sp>
        <p:nvSpPr>
          <p:cNvPr id="23" name="Text 19"/>
          <p:cNvSpPr/>
          <p:nvPr/>
        </p:nvSpPr>
        <p:spPr>
          <a:xfrm>
            <a:off x="4892040" y="1508760"/>
            <a:ext cx="3886200" cy="256032"/>
          </a:xfrm>
          <a:prstGeom prst="rect">
            <a:avLst/>
          </a:prstGeom>
          <a:noFill/>
          <a:ln/>
        </p:spPr>
        <p:txBody>
          <a:bodyPr wrap="square" lIns="0" tIns="0" rIns="0" bIns="0" rtlCol="0" anchor="ctr"/>
          <a:lstStyle/>
          <a:p>
            <a:pPr indent="0" marL="0">
              <a:buNone/>
            </a:pPr>
            <a:r>
              <a:rPr lang="en-US" sz="1100" b="1" dirty="0">
                <a:solidFill>
                  <a:srgbClr val="26A69A"/>
                </a:solidFill>
                <a:latin typeface="Calibri" pitchFamily="34" charset="0"/>
                <a:ea typeface="Calibri" pitchFamily="34" charset="-122"/>
                <a:cs typeface="Calibri" pitchFamily="34" charset="-120"/>
              </a:rPr>
              <a:t>Rewritten Prompt (by Optimizer):</a:t>
            </a:r>
            <a:endParaRPr lang="en-US" sz="1100" dirty="0"/>
          </a:p>
        </p:txBody>
      </p:sp>
      <p:sp>
        <p:nvSpPr>
          <p:cNvPr id="24" name="Shape 20"/>
          <p:cNvSpPr/>
          <p:nvPr/>
        </p:nvSpPr>
        <p:spPr>
          <a:xfrm>
            <a:off x="4892040" y="1783080"/>
            <a:ext cx="3840480" cy="658368"/>
          </a:xfrm>
          <a:prstGeom prst="roundRect">
            <a:avLst>
              <a:gd name="adj" fmla="val 8333"/>
            </a:avLst>
          </a:prstGeom>
          <a:solidFill>
            <a:srgbClr val="EAF8F3"/>
          </a:solidFill>
          <a:ln/>
        </p:spPr>
      </p:sp>
      <p:sp>
        <p:nvSpPr>
          <p:cNvPr id="25" name="Text 21"/>
          <p:cNvSpPr/>
          <p:nvPr/>
        </p:nvSpPr>
        <p:spPr>
          <a:xfrm>
            <a:off x="4956048" y="1810512"/>
            <a:ext cx="3703320" cy="594360"/>
          </a:xfrm>
          <a:prstGeom prst="rect">
            <a:avLst/>
          </a:prstGeom>
          <a:noFill/>
          <a:ln/>
        </p:spPr>
        <p:txBody>
          <a:bodyPr wrap="square" lIns="0" tIns="0" rIns="0" bIns="0" rtlCol="0" anchor="ctr"/>
          <a:lstStyle/>
          <a:p>
            <a:pPr indent="0" marL="0">
              <a:buNone/>
            </a:pPr>
            <a:r>
              <a:rPr lang="en-US" sz="900" i="1" dirty="0">
                <a:solidFill>
                  <a:srgbClr val="26A69A"/>
                </a:solidFill>
                <a:latin typeface="Calibri" pitchFamily="34" charset="0"/>
                <a:ea typeface="Calibri" pitchFamily="34" charset="-122"/>
                <a:cs typeface="Calibri" pitchFamily="34" charset="-120"/>
              </a:rPr>
              <a:t>"Act as a senior customer service rep. Respond to a customer upset about a billing error. Acknowledge frustration, apologize, state a clear resolution step. Tone: calm &amp; empathetic. Max 120 words."</a:t>
            </a:r>
            <a:endParaRPr lang="en-US" sz="900" dirty="0"/>
          </a:p>
        </p:txBody>
      </p:sp>
      <p:sp>
        <p:nvSpPr>
          <p:cNvPr id="26" name="Text 22"/>
          <p:cNvSpPr/>
          <p:nvPr/>
        </p:nvSpPr>
        <p:spPr>
          <a:xfrm>
            <a:off x="4892040" y="2542032"/>
            <a:ext cx="3840480" cy="256032"/>
          </a:xfrm>
          <a:prstGeom prst="rect">
            <a:avLst/>
          </a:prstGeom>
          <a:noFill/>
          <a:ln/>
        </p:spPr>
        <p:txBody>
          <a:bodyPr wrap="square" lIns="0" tIns="0" rIns="0" bIns="0" rtlCol="0" anchor="ctr"/>
          <a:lstStyle/>
          <a:p>
            <a:pPr indent="0" marL="0">
              <a:buNone/>
            </a:pPr>
            <a:r>
              <a:rPr lang="en-US" sz="1100" b="1" dirty="0">
                <a:solidFill>
                  <a:srgbClr val="546E7A"/>
                </a:solidFill>
                <a:latin typeface="Calibri" pitchFamily="34" charset="0"/>
                <a:ea typeface="Calibri" pitchFamily="34" charset="-122"/>
                <a:cs typeface="Calibri" pitchFamily="34" charset="-120"/>
              </a:rPr>
              <a:t>AI Output (Optimized):</a:t>
            </a:r>
            <a:endParaRPr lang="en-US" sz="1100" dirty="0"/>
          </a:p>
        </p:txBody>
      </p:sp>
      <p:sp>
        <p:nvSpPr>
          <p:cNvPr id="27" name="Shape 23"/>
          <p:cNvSpPr/>
          <p:nvPr/>
        </p:nvSpPr>
        <p:spPr>
          <a:xfrm>
            <a:off x="4892040" y="2816352"/>
            <a:ext cx="3840480" cy="1938528"/>
          </a:xfrm>
          <a:prstGeom prst="roundRect">
            <a:avLst>
              <a:gd name="adj" fmla="val 2830"/>
            </a:avLst>
          </a:prstGeom>
          <a:solidFill>
            <a:srgbClr val="F4FBF9"/>
          </a:solidFill>
          <a:ln/>
        </p:spPr>
      </p:sp>
      <p:sp>
        <p:nvSpPr>
          <p:cNvPr id="28" name="Text 24"/>
          <p:cNvSpPr/>
          <p:nvPr/>
        </p:nvSpPr>
        <p:spPr>
          <a:xfrm>
            <a:off x="4956048" y="2880360"/>
            <a:ext cx="3703320" cy="1783080"/>
          </a:xfrm>
          <a:prstGeom prst="rect">
            <a:avLst/>
          </a:prstGeom>
          <a:noFill/>
          <a:ln/>
        </p:spPr>
        <p:txBody>
          <a:bodyPr wrap="square" lIns="0" tIns="0" rIns="0" bIns="0" rtlCol="0" anchor="ctr"/>
          <a:lstStyle/>
          <a:p>
            <a:pPr indent="0" marL="0">
              <a:buNone/>
            </a:pPr>
            <a:r>
              <a:rPr lang="en-US" sz="1000" i="1" dirty="0">
                <a:solidFill>
                  <a:srgbClr val="1C2B3A"/>
                </a:solidFill>
                <a:latin typeface="Calibri" pitchFamily="34" charset="0"/>
                <a:ea typeface="Calibri" pitchFamily="34" charset="-122"/>
                <a:cs typeface="Calibri" pitchFamily="34" charset="-120"/>
              </a:rPr>
              <a:t>"Dear [Name], I sincerely apologize for the billing discrepancy and understand your frustration. After reviewing your account, I can confirm the overcharge was an error on our end. I have initiated a full refund which will reflect within 3–5 business days. I assure you this will not recur. Please reach out if you have further concerns — your satisfaction matters deeply to us."</a:t>
            </a:r>
            <a:endParaRPr lang="en-US" sz="1000" dirty="0"/>
          </a:p>
        </p:txBody>
      </p:sp>
      <p:sp>
        <p:nvSpPr>
          <p:cNvPr id="29" name="Text 25"/>
          <p:cNvSpPr/>
          <p:nvPr/>
        </p:nvSpPr>
        <p:spPr>
          <a:xfrm>
            <a:off x="4892040" y="4754880"/>
            <a:ext cx="3840480" cy="228600"/>
          </a:xfrm>
          <a:prstGeom prst="rect">
            <a:avLst/>
          </a:prstGeom>
          <a:noFill/>
          <a:ln/>
        </p:spPr>
        <p:txBody>
          <a:bodyPr wrap="square" lIns="0" tIns="0" rIns="0" bIns="0" rtlCol="0" anchor="ctr"/>
          <a:lstStyle/>
          <a:p>
            <a:pPr indent="0" marL="0">
              <a:buNone/>
            </a:pPr>
            <a:r>
              <a:rPr lang="en-US" sz="900" b="1" dirty="0">
                <a:solidFill>
                  <a:srgbClr val="26A69A"/>
                </a:solidFill>
                <a:latin typeface="Calibri" pitchFamily="34" charset="0"/>
                <a:ea typeface="Calibri" pitchFamily="34" charset="-122"/>
                <a:cs typeface="Calibri" pitchFamily="34" charset="-120"/>
              </a:rPr>
              <a:t>✅ Empathetic, actionable, professional — no edits needed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6A69A"/>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26A69A"/>
                </a:solidFill>
                <a:latin typeface="Calibri" pitchFamily="34" charset="0"/>
                <a:ea typeface="Calibri" pitchFamily="34" charset="-122"/>
                <a:cs typeface="Calibri" pitchFamily="34" charset="-120"/>
              </a:rPr>
              <a:t>Impact &amp; Measurable Benefits</a:t>
            </a:r>
            <a:endParaRPr lang="en-US" sz="26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10  |  Why This Matters</a:t>
            </a:r>
            <a:endParaRPr lang="en-US" sz="1000" dirty="0"/>
          </a:p>
        </p:txBody>
      </p:sp>
      <p:sp>
        <p:nvSpPr>
          <p:cNvPr id="5" name="Shape 3"/>
          <p:cNvSpPr/>
          <p:nvPr/>
        </p:nvSpPr>
        <p:spPr>
          <a:xfrm>
            <a:off x="320040" y="960120"/>
            <a:ext cx="1920240" cy="1325880"/>
          </a:xfrm>
          <a:prstGeom prst="roundRect">
            <a:avLst>
              <a:gd name="adj" fmla="val 8276"/>
            </a:avLst>
          </a:prstGeom>
          <a:solidFill>
            <a:srgbClr val="1565C0"/>
          </a:solidFill>
          <a:ln/>
          <a:effectLst>
            <a:outerShdw sx="100000" sy="100000" kx="0" ky="0" algn="bl" rotWithShape="0" blurRad="101600" dist="38100" dir="2700000">
              <a:srgbClr val="000000">
                <a:alpha val="12000"/>
              </a:srgbClr>
            </a:outerShdw>
          </a:effectLst>
        </p:spPr>
      </p:sp>
      <p:sp>
        <p:nvSpPr>
          <p:cNvPr id="6" name="Text 4"/>
          <p:cNvSpPr/>
          <p:nvPr/>
        </p:nvSpPr>
        <p:spPr>
          <a:xfrm>
            <a:off x="320040" y="1051560"/>
            <a:ext cx="19202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60–70%</a:t>
            </a:r>
            <a:endParaRPr lang="en-US" sz="3400" dirty="0"/>
          </a:p>
        </p:txBody>
      </p:sp>
      <p:sp>
        <p:nvSpPr>
          <p:cNvPr id="7" name="Text 5"/>
          <p:cNvSpPr/>
          <p:nvPr/>
        </p:nvSpPr>
        <p:spPr>
          <a:xfrm>
            <a:off x="320040" y="1691640"/>
            <a:ext cx="192024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Reduction in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Output Rework</a:t>
            </a:r>
            <a:endParaRPr lang="en-US" sz="1100" dirty="0"/>
          </a:p>
        </p:txBody>
      </p:sp>
      <p:sp>
        <p:nvSpPr>
          <p:cNvPr id="8" name="Shape 6"/>
          <p:cNvSpPr/>
          <p:nvPr/>
        </p:nvSpPr>
        <p:spPr>
          <a:xfrm>
            <a:off x="2450592" y="960120"/>
            <a:ext cx="1920240" cy="1325880"/>
          </a:xfrm>
          <a:prstGeom prst="roundRect">
            <a:avLst>
              <a:gd name="adj" fmla="val 8276"/>
            </a:avLst>
          </a:prstGeom>
          <a:solidFill>
            <a:srgbClr val="26A69A"/>
          </a:solidFill>
          <a:ln/>
          <a:effectLst>
            <a:outerShdw sx="100000" sy="100000" kx="0" ky="0" algn="bl" rotWithShape="0" blurRad="101600" dist="38100" dir="2700000">
              <a:srgbClr val="000000">
                <a:alpha val="12000"/>
              </a:srgbClr>
            </a:outerShdw>
          </a:effectLst>
        </p:spPr>
      </p:sp>
      <p:sp>
        <p:nvSpPr>
          <p:cNvPr id="9" name="Text 7"/>
          <p:cNvSpPr/>
          <p:nvPr/>
        </p:nvSpPr>
        <p:spPr>
          <a:xfrm>
            <a:off x="2450592" y="1051560"/>
            <a:ext cx="19202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3×</a:t>
            </a:r>
            <a:endParaRPr lang="en-US" sz="3400" dirty="0"/>
          </a:p>
        </p:txBody>
      </p:sp>
      <p:sp>
        <p:nvSpPr>
          <p:cNvPr id="10" name="Text 8"/>
          <p:cNvSpPr/>
          <p:nvPr/>
        </p:nvSpPr>
        <p:spPr>
          <a:xfrm>
            <a:off x="2450592" y="1691640"/>
            <a:ext cx="192024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Faster Prompt-to-</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Result Cycle</a:t>
            </a:r>
            <a:endParaRPr lang="en-US" sz="1100" dirty="0"/>
          </a:p>
        </p:txBody>
      </p:sp>
      <p:sp>
        <p:nvSpPr>
          <p:cNvPr id="11" name="Shape 9"/>
          <p:cNvSpPr/>
          <p:nvPr/>
        </p:nvSpPr>
        <p:spPr>
          <a:xfrm>
            <a:off x="4581144" y="960120"/>
            <a:ext cx="1920240" cy="1325880"/>
          </a:xfrm>
          <a:prstGeom prst="roundRect">
            <a:avLst>
              <a:gd name="adj" fmla="val 8276"/>
            </a:avLst>
          </a:prstGeom>
          <a:solidFill>
            <a:srgbClr val="00BCD4"/>
          </a:solidFill>
          <a:ln/>
          <a:effectLst>
            <a:outerShdw sx="100000" sy="100000" kx="0" ky="0" algn="bl" rotWithShape="0" blurRad="101600" dist="38100" dir="2700000">
              <a:srgbClr val="000000">
                <a:alpha val="12000"/>
              </a:srgbClr>
            </a:outerShdw>
          </a:effectLst>
        </p:spPr>
      </p:sp>
      <p:sp>
        <p:nvSpPr>
          <p:cNvPr id="12" name="Text 10"/>
          <p:cNvSpPr/>
          <p:nvPr/>
        </p:nvSpPr>
        <p:spPr>
          <a:xfrm>
            <a:off x="4581144" y="1051560"/>
            <a:ext cx="19202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80%+</a:t>
            </a:r>
            <a:endParaRPr lang="en-US" sz="3400" dirty="0"/>
          </a:p>
        </p:txBody>
      </p:sp>
      <p:sp>
        <p:nvSpPr>
          <p:cNvPr id="13" name="Text 11"/>
          <p:cNvSpPr/>
          <p:nvPr/>
        </p:nvSpPr>
        <p:spPr>
          <a:xfrm>
            <a:off x="4581144" y="1691640"/>
            <a:ext cx="192024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Output Consistency</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Score Target</a:t>
            </a:r>
            <a:endParaRPr lang="en-US" sz="1100" dirty="0"/>
          </a:p>
        </p:txBody>
      </p:sp>
      <p:sp>
        <p:nvSpPr>
          <p:cNvPr id="14" name="Shape 12"/>
          <p:cNvSpPr/>
          <p:nvPr/>
        </p:nvSpPr>
        <p:spPr>
          <a:xfrm>
            <a:off x="6711696" y="960120"/>
            <a:ext cx="1920240" cy="1325880"/>
          </a:xfrm>
          <a:prstGeom prst="roundRect">
            <a:avLst>
              <a:gd name="adj" fmla="val 8276"/>
            </a:avLst>
          </a:prstGeom>
          <a:solidFill>
            <a:srgbClr val="F9A825"/>
          </a:solidFill>
          <a:ln/>
          <a:effectLst>
            <a:outerShdw sx="100000" sy="100000" kx="0" ky="0" algn="bl" rotWithShape="0" blurRad="101600" dist="38100" dir="2700000">
              <a:srgbClr val="000000">
                <a:alpha val="12000"/>
              </a:srgbClr>
            </a:outerShdw>
          </a:effectLst>
        </p:spPr>
      </p:sp>
      <p:sp>
        <p:nvSpPr>
          <p:cNvPr id="15" name="Text 13"/>
          <p:cNvSpPr/>
          <p:nvPr/>
        </p:nvSpPr>
        <p:spPr>
          <a:xfrm>
            <a:off x="6711696" y="1051560"/>
            <a:ext cx="19202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↑40%</a:t>
            </a:r>
            <a:endParaRPr lang="en-US" sz="3400" dirty="0"/>
          </a:p>
        </p:txBody>
      </p:sp>
      <p:sp>
        <p:nvSpPr>
          <p:cNvPr id="16" name="Text 14"/>
          <p:cNvSpPr/>
          <p:nvPr/>
        </p:nvSpPr>
        <p:spPr>
          <a:xfrm>
            <a:off x="6711696" y="1691640"/>
            <a:ext cx="192024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User Productivity</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Estimate</a:t>
            </a:r>
            <a:endParaRPr lang="en-US" sz="1100" dirty="0"/>
          </a:p>
        </p:txBody>
      </p:sp>
      <p:sp>
        <p:nvSpPr>
          <p:cNvPr id="17" name="Text 15"/>
          <p:cNvSpPr/>
          <p:nvPr/>
        </p:nvSpPr>
        <p:spPr>
          <a:xfrm>
            <a:off x="457200" y="2423160"/>
            <a:ext cx="8229600" cy="320040"/>
          </a:xfrm>
          <a:prstGeom prst="rect">
            <a:avLst/>
          </a:prstGeom>
          <a:noFill/>
          <a:ln/>
        </p:spPr>
        <p:txBody>
          <a:bodyPr wrap="square" lIns="0" tIns="0" rIns="0" bIns="0" rtlCol="0" anchor="ctr"/>
          <a:lstStyle/>
          <a:p>
            <a:pPr indent="0" marL="0">
              <a:buNone/>
            </a:pPr>
            <a:r>
              <a:rPr lang="en-US" sz="1400" b="1" dirty="0">
                <a:solidFill>
                  <a:srgbClr val="1565C0"/>
                </a:solidFill>
                <a:latin typeface="Calibri" pitchFamily="34" charset="0"/>
                <a:ea typeface="Calibri" pitchFamily="34" charset="-122"/>
                <a:cs typeface="Calibri" pitchFamily="34" charset="-120"/>
              </a:rPr>
              <a:t>Who Benefits &amp; How</a:t>
            </a:r>
            <a:endParaRPr lang="en-US" sz="1400" dirty="0"/>
          </a:p>
        </p:txBody>
      </p:sp>
      <p:sp>
        <p:nvSpPr>
          <p:cNvPr id="18" name="Shape 16"/>
          <p:cNvSpPr/>
          <p:nvPr/>
        </p:nvSpPr>
        <p:spPr>
          <a:xfrm>
            <a:off x="320040" y="2834640"/>
            <a:ext cx="8503920" cy="475488"/>
          </a:xfrm>
          <a:prstGeom prst="roundRect">
            <a:avLst>
              <a:gd name="adj" fmla="val 11538"/>
            </a:avLst>
          </a:prstGeom>
          <a:solidFill>
            <a:srgbClr val="FFFFFF"/>
          </a:solidFill>
          <a:ln/>
        </p:spPr>
      </p:sp>
      <p:sp>
        <p:nvSpPr>
          <p:cNvPr id="19" name="Text 17"/>
          <p:cNvSpPr/>
          <p:nvPr/>
        </p:nvSpPr>
        <p:spPr>
          <a:xfrm>
            <a:off x="411480" y="2907792"/>
            <a:ext cx="2011680" cy="32004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Business Users</a:t>
            </a:r>
            <a:endParaRPr lang="en-US" sz="1200" dirty="0"/>
          </a:p>
        </p:txBody>
      </p:sp>
      <p:sp>
        <p:nvSpPr>
          <p:cNvPr id="20" name="Text 18"/>
          <p:cNvSpPr/>
          <p:nvPr/>
        </p:nvSpPr>
        <p:spPr>
          <a:xfrm>
            <a:off x="2514600" y="2907792"/>
            <a:ext cx="6217920" cy="3200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Write faster, higher-quality emails and documents without prompt expertise</a:t>
            </a:r>
            <a:endParaRPr lang="en-US" sz="1100" dirty="0"/>
          </a:p>
        </p:txBody>
      </p:sp>
      <p:sp>
        <p:nvSpPr>
          <p:cNvPr id="21" name="Shape 19"/>
          <p:cNvSpPr/>
          <p:nvPr/>
        </p:nvSpPr>
        <p:spPr>
          <a:xfrm>
            <a:off x="320040" y="3374136"/>
            <a:ext cx="8503920" cy="475488"/>
          </a:xfrm>
          <a:prstGeom prst="roundRect">
            <a:avLst>
              <a:gd name="adj" fmla="val 11538"/>
            </a:avLst>
          </a:prstGeom>
          <a:solidFill>
            <a:srgbClr val="EAF4FB"/>
          </a:solidFill>
          <a:ln/>
        </p:spPr>
      </p:sp>
      <p:sp>
        <p:nvSpPr>
          <p:cNvPr id="22" name="Text 20"/>
          <p:cNvSpPr/>
          <p:nvPr/>
        </p:nvSpPr>
        <p:spPr>
          <a:xfrm>
            <a:off x="411480" y="3447288"/>
            <a:ext cx="2011680" cy="32004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Customer Service</a:t>
            </a:r>
            <a:endParaRPr lang="en-US" sz="1200" dirty="0"/>
          </a:p>
        </p:txBody>
      </p:sp>
      <p:sp>
        <p:nvSpPr>
          <p:cNvPr id="23" name="Text 21"/>
          <p:cNvSpPr/>
          <p:nvPr/>
        </p:nvSpPr>
        <p:spPr>
          <a:xfrm>
            <a:off x="2514600" y="3447288"/>
            <a:ext cx="6217920" cy="3200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Consistent, compliant responses — reduced escalation and rework rates</a:t>
            </a:r>
            <a:endParaRPr lang="en-US" sz="1100" dirty="0"/>
          </a:p>
        </p:txBody>
      </p:sp>
      <p:sp>
        <p:nvSpPr>
          <p:cNvPr id="24" name="Shape 22"/>
          <p:cNvSpPr/>
          <p:nvPr/>
        </p:nvSpPr>
        <p:spPr>
          <a:xfrm>
            <a:off x="320040" y="3913632"/>
            <a:ext cx="8503920" cy="475488"/>
          </a:xfrm>
          <a:prstGeom prst="roundRect">
            <a:avLst>
              <a:gd name="adj" fmla="val 11538"/>
            </a:avLst>
          </a:prstGeom>
          <a:solidFill>
            <a:srgbClr val="FFFFFF"/>
          </a:solidFill>
          <a:ln/>
        </p:spPr>
      </p:sp>
      <p:sp>
        <p:nvSpPr>
          <p:cNvPr id="25" name="Text 23"/>
          <p:cNvSpPr/>
          <p:nvPr/>
        </p:nvSpPr>
        <p:spPr>
          <a:xfrm>
            <a:off x="411480" y="3986784"/>
            <a:ext cx="2011680" cy="32004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Management</a:t>
            </a:r>
            <a:endParaRPr lang="en-US" sz="1200" dirty="0"/>
          </a:p>
        </p:txBody>
      </p:sp>
      <p:sp>
        <p:nvSpPr>
          <p:cNvPr id="26" name="Text 24"/>
          <p:cNvSpPr/>
          <p:nvPr/>
        </p:nvSpPr>
        <p:spPr>
          <a:xfrm>
            <a:off x="2514600" y="3986784"/>
            <a:ext cx="6217920" cy="3200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Standardized AI output quality across teams, auditable prompt logs</a:t>
            </a:r>
            <a:endParaRPr lang="en-US" sz="1100" dirty="0"/>
          </a:p>
        </p:txBody>
      </p:sp>
      <p:sp>
        <p:nvSpPr>
          <p:cNvPr id="27" name="Shape 25"/>
          <p:cNvSpPr/>
          <p:nvPr/>
        </p:nvSpPr>
        <p:spPr>
          <a:xfrm>
            <a:off x="320040" y="4453128"/>
            <a:ext cx="8503920" cy="475488"/>
          </a:xfrm>
          <a:prstGeom prst="roundRect">
            <a:avLst>
              <a:gd name="adj" fmla="val 11538"/>
            </a:avLst>
          </a:prstGeom>
          <a:solidFill>
            <a:srgbClr val="EAF4FB"/>
          </a:solidFill>
          <a:ln/>
        </p:spPr>
      </p:sp>
      <p:sp>
        <p:nvSpPr>
          <p:cNvPr id="28" name="Text 26"/>
          <p:cNvSpPr/>
          <p:nvPr/>
        </p:nvSpPr>
        <p:spPr>
          <a:xfrm>
            <a:off x="411480" y="4526280"/>
            <a:ext cx="2011680" cy="32004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IT / AI Teams</a:t>
            </a:r>
            <a:endParaRPr lang="en-US" sz="1200" dirty="0"/>
          </a:p>
        </p:txBody>
      </p:sp>
      <p:sp>
        <p:nvSpPr>
          <p:cNvPr id="29" name="Text 27"/>
          <p:cNvSpPr/>
          <p:nvPr/>
        </p:nvSpPr>
        <p:spPr>
          <a:xfrm>
            <a:off x="2514600" y="4526280"/>
            <a:ext cx="6217920" cy="3200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Reusable optimizer layer; plug into any LLM endpoint; modular design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565C0"/>
          </a:solidFill>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1565C0"/>
                </a:solidFill>
                <a:latin typeface="Calibri" pitchFamily="34" charset="0"/>
                <a:ea typeface="Calibri" pitchFamily="34" charset="-122"/>
                <a:cs typeface="Calibri" pitchFamily="34" charset="-120"/>
              </a:rPr>
              <a:t>Implementation Roadmap</a:t>
            </a:r>
            <a:endParaRPr lang="en-US" sz="26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indent="0" marL="0">
              <a:buNone/>
            </a:pPr>
            <a:r>
              <a:rPr lang="en-US" sz="1000" i="1" dirty="0">
                <a:solidFill>
                  <a:srgbClr val="546E7A"/>
                </a:solidFill>
                <a:latin typeface="Calibri" pitchFamily="34" charset="0"/>
                <a:ea typeface="Calibri" pitchFamily="34" charset="-122"/>
                <a:cs typeface="Calibri" pitchFamily="34" charset="-120"/>
              </a:rPr>
              <a:t>Slide 11  |  Phased Delivery Plan</a:t>
            </a:r>
            <a:endParaRPr lang="en-US" sz="1000" dirty="0"/>
          </a:p>
        </p:txBody>
      </p:sp>
      <p:sp>
        <p:nvSpPr>
          <p:cNvPr id="5" name="Shape 3"/>
          <p:cNvSpPr/>
          <p:nvPr/>
        </p:nvSpPr>
        <p:spPr>
          <a:xfrm>
            <a:off x="320040" y="987552"/>
            <a:ext cx="1965960" cy="713232"/>
          </a:xfrm>
          <a:prstGeom prst="roundRect">
            <a:avLst>
              <a:gd name="adj" fmla="val 10256"/>
            </a:avLst>
          </a:prstGeom>
          <a:solidFill>
            <a:srgbClr val="1565C0"/>
          </a:solidFill>
          <a:ln/>
        </p:spPr>
      </p:sp>
      <p:sp>
        <p:nvSpPr>
          <p:cNvPr id="6" name="Text 4"/>
          <p:cNvSpPr/>
          <p:nvPr/>
        </p:nvSpPr>
        <p:spPr>
          <a:xfrm>
            <a:off x="320040" y="1005840"/>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1</a:t>
            </a:r>
            <a:endParaRPr lang="en-US" sz="1400" dirty="0"/>
          </a:p>
        </p:txBody>
      </p:sp>
      <p:sp>
        <p:nvSpPr>
          <p:cNvPr id="7" name="Text 5"/>
          <p:cNvSpPr/>
          <p:nvPr/>
        </p:nvSpPr>
        <p:spPr>
          <a:xfrm>
            <a:off x="320040" y="1353312"/>
            <a:ext cx="196596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Weeks 1–3</a:t>
            </a:r>
            <a:endParaRPr lang="en-US" sz="1000" dirty="0"/>
          </a:p>
        </p:txBody>
      </p:sp>
      <p:sp>
        <p:nvSpPr>
          <p:cNvPr id="8" name="Shape 6"/>
          <p:cNvSpPr/>
          <p:nvPr/>
        </p:nvSpPr>
        <p:spPr>
          <a:xfrm>
            <a:off x="320040" y="1764792"/>
            <a:ext cx="1965960" cy="1078992"/>
          </a:xfrm>
          <a:prstGeom prst="roundRect">
            <a:avLst>
              <a:gd name="adj" fmla="val 678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393192" y="1801368"/>
            <a:ext cx="1828800" cy="274320"/>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Research &amp; Design</a:t>
            </a:r>
            <a:endParaRPr lang="en-US" sz="1200" dirty="0"/>
          </a:p>
        </p:txBody>
      </p:sp>
      <p:sp>
        <p:nvSpPr>
          <p:cNvPr id="10" name="Text 8"/>
          <p:cNvSpPr/>
          <p:nvPr/>
        </p:nvSpPr>
        <p:spPr>
          <a:xfrm>
            <a:off x="393192" y="2103120"/>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Define prompt quality criteria</a:t>
            </a:r>
            <a:endParaRPr lang="en-US" sz="900" dirty="0"/>
          </a:p>
        </p:txBody>
      </p:sp>
      <p:sp>
        <p:nvSpPr>
          <p:cNvPr id="11" name="Text 9"/>
          <p:cNvSpPr/>
          <p:nvPr/>
        </p:nvSpPr>
        <p:spPr>
          <a:xfrm>
            <a:off x="393192" y="2350008"/>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Select LLM (GPT-4 Turbo / Claude)</a:t>
            </a:r>
            <a:endParaRPr lang="en-US" sz="900" dirty="0"/>
          </a:p>
        </p:txBody>
      </p:sp>
      <p:sp>
        <p:nvSpPr>
          <p:cNvPr id="12" name="Text 10"/>
          <p:cNvSpPr/>
          <p:nvPr/>
        </p:nvSpPr>
        <p:spPr>
          <a:xfrm>
            <a:off x="393192" y="2596896"/>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Design meta-prompt template</a:t>
            </a:r>
            <a:endParaRPr lang="en-US" sz="900" dirty="0"/>
          </a:p>
        </p:txBody>
      </p:sp>
      <p:sp>
        <p:nvSpPr>
          <p:cNvPr id="13" name="Text 11"/>
          <p:cNvSpPr/>
          <p:nvPr/>
        </p:nvSpPr>
        <p:spPr>
          <a:xfrm>
            <a:off x="393192" y="2843784"/>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Wireframe UI interface</a:t>
            </a:r>
            <a:endParaRPr lang="en-US" sz="900" dirty="0"/>
          </a:p>
        </p:txBody>
      </p:sp>
      <p:sp>
        <p:nvSpPr>
          <p:cNvPr id="14" name="Text 12"/>
          <p:cNvSpPr/>
          <p:nvPr/>
        </p:nvSpPr>
        <p:spPr>
          <a:xfrm>
            <a:off x="2286000" y="1280160"/>
            <a:ext cx="182880" cy="365760"/>
          </a:xfrm>
          <a:prstGeom prst="rect">
            <a:avLst/>
          </a:prstGeom>
          <a:noFill/>
          <a:ln/>
        </p:spPr>
        <p:txBody>
          <a:bodyPr wrap="square" lIns="0" tIns="0" rIns="0" bIns="0" rtlCol="0" anchor="ctr"/>
          <a:lstStyle/>
          <a:p>
            <a:pPr algn="ctr" indent="0" marL="0">
              <a:buNone/>
            </a:pPr>
            <a:r>
              <a:rPr lang="en-US" sz="1600" dirty="0">
                <a:solidFill>
                  <a:srgbClr val="1565C0"/>
                </a:solidFill>
              </a:rPr>
              <a:t>→</a:t>
            </a:r>
            <a:endParaRPr lang="en-US" sz="1600" dirty="0"/>
          </a:p>
        </p:txBody>
      </p:sp>
      <p:sp>
        <p:nvSpPr>
          <p:cNvPr id="15" name="Shape 13"/>
          <p:cNvSpPr/>
          <p:nvPr/>
        </p:nvSpPr>
        <p:spPr>
          <a:xfrm>
            <a:off x="2468880" y="987552"/>
            <a:ext cx="1965960" cy="713232"/>
          </a:xfrm>
          <a:prstGeom prst="roundRect">
            <a:avLst>
              <a:gd name="adj" fmla="val 10256"/>
            </a:avLst>
          </a:prstGeom>
          <a:solidFill>
            <a:srgbClr val="00BCD4"/>
          </a:solidFill>
          <a:ln/>
        </p:spPr>
      </p:sp>
      <p:sp>
        <p:nvSpPr>
          <p:cNvPr id="16" name="Text 14"/>
          <p:cNvSpPr/>
          <p:nvPr/>
        </p:nvSpPr>
        <p:spPr>
          <a:xfrm>
            <a:off x="2468880" y="1005840"/>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2</a:t>
            </a:r>
            <a:endParaRPr lang="en-US" sz="1400" dirty="0"/>
          </a:p>
        </p:txBody>
      </p:sp>
      <p:sp>
        <p:nvSpPr>
          <p:cNvPr id="17" name="Text 15"/>
          <p:cNvSpPr/>
          <p:nvPr/>
        </p:nvSpPr>
        <p:spPr>
          <a:xfrm>
            <a:off x="2468880" y="1353312"/>
            <a:ext cx="196596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Weeks 4–7</a:t>
            </a:r>
            <a:endParaRPr lang="en-US" sz="1000" dirty="0"/>
          </a:p>
        </p:txBody>
      </p:sp>
      <p:sp>
        <p:nvSpPr>
          <p:cNvPr id="18" name="Shape 16"/>
          <p:cNvSpPr/>
          <p:nvPr/>
        </p:nvSpPr>
        <p:spPr>
          <a:xfrm>
            <a:off x="2468880" y="1764792"/>
            <a:ext cx="1965960" cy="1078992"/>
          </a:xfrm>
          <a:prstGeom prst="roundRect">
            <a:avLst>
              <a:gd name="adj" fmla="val 6780"/>
            </a:avLst>
          </a:prstGeom>
          <a:solidFill>
            <a:srgbClr val="FFFFFF"/>
          </a:solidFill>
          <a:ln/>
          <a:effectLst>
            <a:outerShdw sx="100000" sy="100000" kx="0" ky="0" algn="bl" rotWithShape="0" blurRad="101600" dist="38100" dir="2700000">
              <a:srgbClr val="000000">
                <a:alpha val="12000"/>
              </a:srgbClr>
            </a:outerShdw>
          </a:effectLst>
        </p:spPr>
      </p:sp>
      <p:sp>
        <p:nvSpPr>
          <p:cNvPr id="19" name="Text 17"/>
          <p:cNvSpPr/>
          <p:nvPr/>
        </p:nvSpPr>
        <p:spPr>
          <a:xfrm>
            <a:off x="2542032" y="1801368"/>
            <a:ext cx="1828800" cy="274320"/>
          </a:xfrm>
          <a:prstGeom prst="rect">
            <a:avLst/>
          </a:prstGeom>
          <a:noFill/>
          <a:ln/>
        </p:spPr>
        <p:txBody>
          <a:bodyPr wrap="square" lIns="0" tIns="0" rIns="0" bIns="0" rtlCol="0" anchor="ctr"/>
          <a:lstStyle/>
          <a:p>
            <a:pPr indent="0" marL="0">
              <a:buNone/>
            </a:pPr>
            <a:r>
              <a:rPr lang="en-US" sz="1200" b="1" dirty="0">
                <a:solidFill>
                  <a:srgbClr val="00BCD4"/>
                </a:solidFill>
                <a:latin typeface="Calibri" pitchFamily="34" charset="0"/>
                <a:ea typeface="Calibri" pitchFamily="34" charset="-122"/>
                <a:cs typeface="Calibri" pitchFamily="34" charset="-120"/>
              </a:rPr>
              <a:t>Build Core Engine</a:t>
            </a:r>
            <a:endParaRPr lang="en-US" sz="1200" dirty="0"/>
          </a:p>
        </p:txBody>
      </p:sp>
      <p:sp>
        <p:nvSpPr>
          <p:cNvPr id="20" name="Text 18"/>
          <p:cNvSpPr/>
          <p:nvPr/>
        </p:nvSpPr>
        <p:spPr>
          <a:xfrm>
            <a:off x="2542032" y="2103120"/>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Implement NLP classifier</a:t>
            </a:r>
            <a:endParaRPr lang="en-US" sz="900" dirty="0"/>
          </a:p>
        </p:txBody>
      </p:sp>
      <p:sp>
        <p:nvSpPr>
          <p:cNvPr id="21" name="Text 19"/>
          <p:cNvSpPr/>
          <p:nvPr/>
        </p:nvSpPr>
        <p:spPr>
          <a:xfrm>
            <a:off x="2542032" y="2350008"/>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Build optimizer LLM pipeline</a:t>
            </a:r>
            <a:endParaRPr lang="en-US" sz="900" dirty="0"/>
          </a:p>
        </p:txBody>
      </p:sp>
      <p:sp>
        <p:nvSpPr>
          <p:cNvPr id="22" name="Text 20"/>
          <p:cNvSpPr/>
          <p:nvPr/>
        </p:nvSpPr>
        <p:spPr>
          <a:xfrm>
            <a:off x="2542032" y="2596896"/>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Develop before/after comparison UI</a:t>
            </a:r>
            <a:endParaRPr lang="en-US" sz="900" dirty="0"/>
          </a:p>
        </p:txBody>
      </p:sp>
      <p:sp>
        <p:nvSpPr>
          <p:cNvPr id="23" name="Text 21"/>
          <p:cNvSpPr/>
          <p:nvPr/>
        </p:nvSpPr>
        <p:spPr>
          <a:xfrm>
            <a:off x="2542032" y="2843784"/>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Unit testing</a:t>
            </a:r>
            <a:endParaRPr lang="en-US" sz="900" dirty="0"/>
          </a:p>
        </p:txBody>
      </p:sp>
      <p:sp>
        <p:nvSpPr>
          <p:cNvPr id="24" name="Text 22"/>
          <p:cNvSpPr/>
          <p:nvPr/>
        </p:nvSpPr>
        <p:spPr>
          <a:xfrm>
            <a:off x="4434840" y="1280160"/>
            <a:ext cx="182880" cy="365760"/>
          </a:xfrm>
          <a:prstGeom prst="rect">
            <a:avLst/>
          </a:prstGeom>
          <a:noFill/>
          <a:ln/>
        </p:spPr>
        <p:txBody>
          <a:bodyPr wrap="square" lIns="0" tIns="0" rIns="0" bIns="0" rtlCol="0" anchor="ctr"/>
          <a:lstStyle/>
          <a:p>
            <a:pPr algn="ctr" indent="0" marL="0">
              <a:buNone/>
            </a:pPr>
            <a:r>
              <a:rPr lang="en-US" sz="1600" dirty="0">
                <a:solidFill>
                  <a:srgbClr val="00BCD4"/>
                </a:solidFill>
              </a:rPr>
              <a:t>→</a:t>
            </a:r>
            <a:endParaRPr lang="en-US" sz="1600" dirty="0"/>
          </a:p>
        </p:txBody>
      </p:sp>
      <p:sp>
        <p:nvSpPr>
          <p:cNvPr id="25" name="Shape 23"/>
          <p:cNvSpPr/>
          <p:nvPr/>
        </p:nvSpPr>
        <p:spPr>
          <a:xfrm>
            <a:off x="4617720" y="987552"/>
            <a:ext cx="1965960" cy="713232"/>
          </a:xfrm>
          <a:prstGeom prst="roundRect">
            <a:avLst>
              <a:gd name="adj" fmla="val 10256"/>
            </a:avLst>
          </a:prstGeom>
          <a:solidFill>
            <a:srgbClr val="26A69A"/>
          </a:solidFill>
          <a:ln/>
        </p:spPr>
      </p:sp>
      <p:sp>
        <p:nvSpPr>
          <p:cNvPr id="26" name="Text 24"/>
          <p:cNvSpPr/>
          <p:nvPr/>
        </p:nvSpPr>
        <p:spPr>
          <a:xfrm>
            <a:off x="4617720" y="1005840"/>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3</a:t>
            </a:r>
            <a:endParaRPr lang="en-US" sz="1400" dirty="0"/>
          </a:p>
        </p:txBody>
      </p:sp>
      <p:sp>
        <p:nvSpPr>
          <p:cNvPr id="27" name="Text 25"/>
          <p:cNvSpPr/>
          <p:nvPr/>
        </p:nvSpPr>
        <p:spPr>
          <a:xfrm>
            <a:off x="4617720" y="1353312"/>
            <a:ext cx="196596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Weeks 8–10</a:t>
            </a:r>
            <a:endParaRPr lang="en-US" sz="1000" dirty="0"/>
          </a:p>
        </p:txBody>
      </p:sp>
      <p:sp>
        <p:nvSpPr>
          <p:cNvPr id="28" name="Shape 26"/>
          <p:cNvSpPr/>
          <p:nvPr/>
        </p:nvSpPr>
        <p:spPr>
          <a:xfrm>
            <a:off x="4617720" y="1764792"/>
            <a:ext cx="1965960" cy="1078992"/>
          </a:xfrm>
          <a:prstGeom prst="roundRect">
            <a:avLst>
              <a:gd name="adj" fmla="val 6780"/>
            </a:avLst>
          </a:prstGeom>
          <a:solidFill>
            <a:srgbClr val="FFFFFF"/>
          </a:solidFill>
          <a:ln/>
          <a:effectLst>
            <a:outerShdw sx="100000" sy="100000" kx="0" ky="0" algn="bl" rotWithShape="0" blurRad="101600" dist="38100" dir="2700000">
              <a:srgbClr val="000000">
                <a:alpha val="12000"/>
              </a:srgbClr>
            </a:outerShdw>
          </a:effectLst>
        </p:spPr>
      </p:sp>
      <p:sp>
        <p:nvSpPr>
          <p:cNvPr id="29" name="Text 27"/>
          <p:cNvSpPr/>
          <p:nvPr/>
        </p:nvSpPr>
        <p:spPr>
          <a:xfrm>
            <a:off x="4690872" y="1801368"/>
            <a:ext cx="1828800" cy="274320"/>
          </a:xfrm>
          <a:prstGeom prst="rect">
            <a:avLst/>
          </a:prstGeom>
          <a:noFill/>
          <a:ln/>
        </p:spPr>
        <p:txBody>
          <a:bodyPr wrap="square" lIns="0" tIns="0" rIns="0" bIns="0" rtlCol="0" anchor="ctr"/>
          <a:lstStyle/>
          <a:p>
            <a:pPr indent="0" marL="0">
              <a:buNone/>
            </a:pPr>
            <a:r>
              <a:rPr lang="en-US" sz="1200" b="1" dirty="0">
                <a:solidFill>
                  <a:srgbClr val="26A69A"/>
                </a:solidFill>
                <a:latin typeface="Calibri" pitchFamily="34" charset="0"/>
                <a:ea typeface="Calibri" pitchFamily="34" charset="-122"/>
                <a:cs typeface="Calibri" pitchFamily="34" charset="-120"/>
              </a:rPr>
              <a:t>Pilot &amp; Validate</a:t>
            </a:r>
            <a:endParaRPr lang="en-US" sz="1200" dirty="0"/>
          </a:p>
        </p:txBody>
      </p:sp>
      <p:sp>
        <p:nvSpPr>
          <p:cNvPr id="30" name="Text 28"/>
          <p:cNvSpPr/>
          <p:nvPr/>
        </p:nvSpPr>
        <p:spPr>
          <a:xfrm>
            <a:off x="4690872" y="2103120"/>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Deploy to 10 pilot users</a:t>
            </a:r>
            <a:endParaRPr lang="en-US" sz="900" dirty="0"/>
          </a:p>
        </p:txBody>
      </p:sp>
      <p:sp>
        <p:nvSpPr>
          <p:cNvPr id="31" name="Text 29"/>
          <p:cNvSpPr/>
          <p:nvPr/>
        </p:nvSpPr>
        <p:spPr>
          <a:xfrm>
            <a:off x="4690872" y="2350008"/>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Collect output quality scores</a:t>
            </a:r>
            <a:endParaRPr lang="en-US" sz="900" dirty="0"/>
          </a:p>
        </p:txBody>
      </p:sp>
      <p:sp>
        <p:nvSpPr>
          <p:cNvPr id="32" name="Text 30"/>
          <p:cNvSpPr/>
          <p:nvPr/>
        </p:nvSpPr>
        <p:spPr>
          <a:xfrm>
            <a:off x="4690872" y="2596896"/>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Iterate optimizer meta-prompt</a:t>
            </a:r>
            <a:endParaRPr lang="en-US" sz="900" dirty="0"/>
          </a:p>
        </p:txBody>
      </p:sp>
      <p:sp>
        <p:nvSpPr>
          <p:cNvPr id="33" name="Text 31"/>
          <p:cNvSpPr/>
          <p:nvPr/>
        </p:nvSpPr>
        <p:spPr>
          <a:xfrm>
            <a:off x="4690872" y="2843784"/>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Stakeholder review</a:t>
            </a:r>
            <a:endParaRPr lang="en-US" sz="900" dirty="0"/>
          </a:p>
        </p:txBody>
      </p:sp>
      <p:sp>
        <p:nvSpPr>
          <p:cNvPr id="34" name="Text 32"/>
          <p:cNvSpPr/>
          <p:nvPr/>
        </p:nvSpPr>
        <p:spPr>
          <a:xfrm>
            <a:off x="6583680" y="1280160"/>
            <a:ext cx="182880" cy="365760"/>
          </a:xfrm>
          <a:prstGeom prst="rect">
            <a:avLst/>
          </a:prstGeom>
          <a:noFill/>
          <a:ln/>
        </p:spPr>
        <p:txBody>
          <a:bodyPr wrap="square" lIns="0" tIns="0" rIns="0" bIns="0" rtlCol="0" anchor="ctr"/>
          <a:lstStyle/>
          <a:p>
            <a:pPr algn="ctr" indent="0" marL="0">
              <a:buNone/>
            </a:pPr>
            <a:r>
              <a:rPr lang="en-US" sz="1600" dirty="0">
                <a:solidFill>
                  <a:srgbClr val="26A69A"/>
                </a:solidFill>
              </a:rPr>
              <a:t>→</a:t>
            </a:r>
            <a:endParaRPr lang="en-US" sz="1600" dirty="0"/>
          </a:p>
        </p:txBody>
      </p:sp>
      <p:sp>
        <p:nvSpPr>
          <p:cNvPr id="35" name="Shape 33"/>
          <p:cNvSpPr/>
          <p:nvPr/>
        </p:nvSpPr>
        <p:spPr>
          <a:xfrm>
            <a:off x="6766560" y="987552"/>
            <a:ext cx="1965960" cy="713232"/>
          </a:xfrm>
          <a:prstGeom prst="roundRect">
            <a:avLst>
              <a:gd name="adj" fmla="val 10256"/>
            </a:avLst>
          </a:prstGeom>
          <a:solidFill>
            <a:srgbClr val="F9A825"/>
          </a:solidFill>
          <a:ln/>
        </p:spPr>
      </p:sp>
      <p:sp>
        <p:nvSpPr>
          <p:cNvPr id="36" name="Text 34"/>
          <p:cNvSpPr/>
          <p:nvPr/>
        </p:nvSpPr>
        <p:spPr>
          <a:xfrm>
            <a:off x="6766560" y="1005840"/>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4</a:t>
            </a:r>
            <a:endParaRPr lang="en-US" sz="1400" dirty="0"/>
          </a:p>
        </p:txBody>
      </p:sp>
      <p:sp>
        <p:nvSpPr>
          <p:cNvPr id="37" name="Text 35"/>
          <p:cNvSpPr/>
          <p:nvPr/>
        </p:nvSpPr>
        <p:spPr>
          <a:xfrm>
            <a:off x="6766560" y="1353312"/>
            <a:ext cx="196596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Weeks 11–13</a:t>
            </a:r>
            <a:endParaRPr lang="en-US" sz="1000" dirty="0"/>
          </a:p>
        </p:txBody>
      </p:sp>
      <p:sp>
        <p:nvSpPr>
          <p:cNvPr id="38" name="Shape 36"/>
          <p:cNvSpPr/>
          <p:nvPr/>
        </p:nvSpPr>
        <p:spPr>
          <a:xfrm>
            <a:off x="6766560" y="1764792"/>
            <a:ext cx="1965960" cy="1078992"/>
          </a:xfrm>
          <a:prstGeom prst="roundRect">
            <a:avLst>
              <a:gd name="adj" fmla="val 6780"/>
            </a:avLst>
          </a:prstGeom>
          <a:solidFill>
            <a:srgbClr val="FFFFFF"/>
          </a:solidFill>
          <a:ln/>
          <a:effectLst>
            <a:outerShdw sx="100000" sy="100000" kx="0" ky="0" algn="bl" rotWithShape="0" blurRad="101600" dist="38100" dir="2700000">
              <a:srgbClr val="000000">
                <a:alpha val="12000"/>
              </a:srgbClr>
            </a:outerShdw>
          </a:effectLst>
        </p:spPr>
      </p:sp>
      <p:sp>
        <p:nvSpPr>
          <p:cNvPr id="39" name="Text 37"/>
          <p:cNvSpPr/>
          <p:nvPr/>
        </p:nvSpPr>
        <p:spPr>
          <a:xfrm>
            <a:off x="6839712" y="1801368"/>
            <a:ext cx="1828800" cy="274320"/>
          </a:xfrm>
          <a:prstGeom prst="rect">
            <a:avLst/>
          </a:prstGeom>
          <a:noFill/>
          <a:ln/>
        </p:spPr>
        <p:txBody>
          <a:bodyPr wrap="square" lIns="0" tIns="0" rIns="0" bIns="0" rtlCol="0" anchor="ctr"/>
          <a:lstStyle/>
          <a:p>
            <a:pPr indent="0" marL="0">
              <a:buNone/>
            </a:pPr>
            <a:r>
              <a:rPr lang="en-US" sz="1200" b="1" dirty="0">
                <a:solidFill>
                  <a:srgbClr val="F9A825"/>
                </a:solidFill>
                <a:latin typeface="Calibri" pitchFamily="34" charset="0"/>
                <a:ea typeface="Calibri" pitchFamily="34" charset="-122"/>
                <a:cs typeface="Calibri" pitchFamily="34" charset="-120"/>
              </a:rPr>
              <a:t>Scale &amp; Integrate</a:t>
            </a:r>
            <a:endParaRPr lang="en-US" sz="1200" dirty="0"/>
          </a:p>
        </p:txBody>
      </p:sp>
      <p:sp>
        <p:nvSpPr>
          <p:cNvPr id="40" name="Text 38"/>
          <p:cNvSpPr/>
          <p:nvPr/>
        </p:nvSpPr>
        <p:spPr>
          <a:xfrm>
            <a:off x="6839712" y="2103120"/>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Full team rollout</a:t>
            </a:r>
            <a:endParaRPr lang="en-US" sz="900" dirty="0"/>
          </a:p>
        </p:txBody>
      </p:sp>
      <p:sp>
        <p:nvSpPr>
          <p:cNvPr id="41" name="Text 39"/>
          <p:cNvSpPr/>
          <p:nvPr/>
        </p:nvSpPr>
        <p:spPr>
          <a:xfrm>
            <a:off x="6839712" y="2350008"/>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Integrate with existing AI tools</a:t>
            </a:r>
            <a:endParaRPr lang="en-US" sz="900" dirty="0"/>
          </a:p>
        </p:txBody>
      </p:sp>
      <p:sp>
        <p:nvSpPr>
          <p:cNvPr id="42" name="Text 40"/>
          <p:cNvSpPr/>
          <p:nvPr/>
        </p:nvSpPr>
        <p:spPr>
          <a:xfrm>
            <a:off x="6839712" y="2596896"/>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Enable feedback learning loop</a:t>
            </a:r>
            <a:endParaRPr lang="en-US" sz="900" dirty="0"/>
          </a:p>
        </p:txBody>
      </p:sp>
      <p:sp>
        <p:nvSpPr>
          <p:cNvPr id="43" name="Text 41"/>
          <p:cNvSpPr/>
          <p:nvPr/>
        </p:nvSpPr>
        <p:spPr>
          <a:xfrm>
            <a:off x="6839712" y="2843784"/>
            <a:ext cx="1828800" cy="228600"/>
          </a:xfrm>
          <a:prstGeom prst="rect">
            <a:avLst/>
          </a:prstGeom>
          <a:noFill/>
          <a:ln/>
        </p:spPr>
        <p:txBody>
          <a:bodyPr wrap="square" lIns="0" tIns="0" rIns="0" bIns="0" rtlCol="0" anchor="ctr"/>
          <a:lstStyle/>
          <a:p>
            <a:pPr marL="342900" indent="-342900">
              <a:buSzPct val="100000"/>
              <a:buChar char="•"/>
            </a:pPr>
            <a:r>
              <a:rPr lang="en-US" sz="900" dirty="0">
                <a:solidFill>
                  <a:srgbClr val="1C2B3A"/>
                </a:solidFill>
                <a:latin typeface="Calibri" pitchFamily="34" charset="0"/>
                <a:ea typeface="Calibri" pitchFamily="34" charset="-122"/>
                <a:cs typeface="Calibri" pitchFamily="34" charset="-120"/>
              </a:rPr>
              <a:t>Dashboard &amp; reporting</a:t>
            </a:r>
            <a:endParaRPr lang="en-US" sz="900" dirty="0"/>
          </a:p>
        </p:txBody>
      </p:sp>
      <p:sp>
        <p:nvSpPr>
          <p:cNvPr id="44" name="Text 42"/>
          <p:cNvSpPr/>
          <p:nvPr/>
        </p:nvSpPr>
        <p:spPr>
          <a:xfrm>
            <a:off x="457200" y="2999232"/>
            <a:ext cx="8229600" cy="292608"/>
          </a:xfrm>
          <a:prstGeom prst="rect">
            <a:avLst/>
          </a:prstGeom>
          <a:noFill/>
          <a:ln/>
        </p:spPr>
        <p:txBody>
          <a:bodyPr wrap="square" lIns="0" tIns="0" rIns="0" bIns="0" rtlCol="0" anchor="ctr"/>
          <a:lstStyle/>
          <a:p>
            <a:pPr indent="0" marL="0">
              <a:buNone/>
            </a:pPr>
            <a:r>
              <a:rPr lang="en-US" sz="1300" b="1" dirty="0">
                <a:solidFill>
                  <a:srgbClr val="1565C0"/>
                </a:solidFill>
                <a:latin typeface="Calibri" pitchFamily="34" charset="0"/>
                <a:ea typeface="Calibri" pitchFamily="34" charset="-122"/>
                <a:cs typeface="Calibri" pitchFamily="34" charset="-120"/>
              </a:rPr>
              <a:t>Success Criteria:</a:t>
            </a:r>
            <a:endParaRPr lang="en-US" sz="1300" dirty="0"/>
          </a:p>
        </p:txBody>
      </p:sp>
      <p:sp>
        <p:nvSpPr>
          <p:cNvPr id="45" name="Shape 43"/>
          <p:cNvSpPr/>
          <p:nvPr/>
        </p:nvSpPr>
        <p:spPr>
          <a:xfrm>
            <a:off x="457200" y="3392424"/>
            <a:ext cx="201168" cy="201168"/>
          </a:xfrm>
          <a:prstGeom prst="ellipse">
            <a:avLst/>
          </a:prstGeom>
          <a:solidFill>
            <a:srgbClr val="26A69A"/>
          </a:solidFill>
          <a:ln/>
        </p:spPr>
      </p:sp>
      <p:sp>
        <p:nvSpPr>
          <p:cNvPr id="46" name="Text 44"/>
          <p:cNvSpPr/>
          <p:nvPr/>
        </p:nvSpPr>
        <p:spPr>
          <a:xfrm>
            <a:off x="749808" y="3337560"/>
            <a:ext cx="3977640" cy="3200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Output quality score ≥ 4.0/5.0 from pilot users</a:t>
            </a:r>
            <a:endParaRPr lang="en-US" sz="1100" dirty="0"/>
          </a:p>
        </p:txBody>
      </p:sp>
      <p:sp>
        <p:nvSpPr>
          <p:cNvPr id="47" name="Shape 45"/>
          <p:cNvSpPr/>
          <p:nvPr/>
        </p:nvSpPr>
        <p:spPr>
          <a:xfrm>
            <a:off x="4846320" y="3392424"/>
            <a:ext cx="201168" cy="201168"/>
          </a:xfrm>
          <a:prstGeom prst="ellipse">
            <a:avLst/>
          </a:prstGeom>
          <a:solidFill>
            <a:srgbClr val="26A69A"/>
          </a:solidFill>
          <a:ln/>
        </p:spPr>
      </p:sp>
      <p:sp>
        <p:nvSpPr>
          <p:cNvPr id="48" name="Text 46"/>
          <p:cNvSpPr/>
          <p:nvPr/>
        </p:nvSpPr>
        <p:spPr>
          <a:xfrm>
            <a:off x="5138928" y="3337560"/>
            <a:ext cx="3977640" cy="3200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Rework rate reduced by ≥ 50% vs. baseline</a:t>
            </a:r>
            <a:endParaRPr lang="en-US" sz="1100" dirty="0"/>
          </a:p>
        </p:txBody>
      </p:sp>
      <p:sp>
        <p:nvSpPr>
          <p:cNvPr id="49" name="Shape 47"/>
          <p:cNvSpPr/>
          <p:nvPr/>
        </p:nvSpPr>
        <p:spPr>
          <a:xfrm>
            <a:off x="457200" y="3803904"/>
            <a:ext cx="201168" cy="201168"/>
          </a:xfrm>
          <a:prstGeom prst="ellipse">
            <a:avLst/>
          </a:prstGeom>
          <a:solidFill>
            <a:srgbClr val="26A69A"/>
          </a:solidFill>
          <a:ln/>
        </p:spPr>
      </p:sp>
      <p:sp>
        <p:nvSpPr>
          <p:cNvPr id="50" name="Text 48"/>
          <p:cNvSpPr/>
          <p:nvPr/>
        </p:nvSpPr>
        <p:spPr>
          <a:xfrm>
            <a:off x="749808" y="3749040"/>
            <a:ext cx="3977640" cy="3200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Prompt optimization time ≤ 2 seconds per request</a:t>
            </a:r>
            <a:endParaRPr lang="en-US" sz="1100" dirty="0"/>
          </a:p>
        </p:txBody>
      </p:sp>
      <p:sp>
        <p:nvSpPr>
          <p:cNvPr id="51" name="Shape 49"/>
          <p:cNvSpPr/>
          <p:nvPr/>
        </p:nvSpPr>
        <p:spPr>
          <a:xfrm>
            <a:off x="4846320" y="3803904"/>
            <a:ext cx="201168" cy="201168"/>
          </a:xfrm>
          <a:prstGeom prst="ellipse">
            <a:avLst/>
          </a:prstGeom>
          <a:solidFill>
            <a:srgbClr val="26A69A"/>
          </a:solidFill>
          <a:ln/>
        </p:spPr>
      </p:sp>
      <p:sp>
        <p:nvSpPr>
          <p:cNvPr id="52" name="Text 50"/>
          <p:cNvSpPr/>
          <p:nvPr/>
        </p:nvSpPr>
        <p:spPr>
          <a:xfrm>
            <a:off x="5138928" y="3749040"/>
            <a:ext cx="3977640" cy="320040"/>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User adoption rate ≥ 80% after 4 weeks of pilot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5943600" y="731520"/>
            <a:ext cx="4114800" cy="4114800"/>
          </a:xfrm>
          <a:prstGeom prst="ellipse">
            <a:avLst/>
          </a:prstGeom>
          <a:solidFill>
            <a:srgbClr val="1565C0">
              <a:alpha val="20000"/>
            </a:srgbClr>
          </a:solidFill>
          <a:ln/>
        </p:spPr>
      </p:sp>
      <p:sp>
        <p:nvSpPr>
          <p:cNvPr id="4" name="Shape 2"/>
          <p:cNvSpPr/>
          <p:nvPr/>
        </p:nvSpPr>
        <p:spPr>
          <a:xfrm>
            <a:off x="6583680" y="1371600"/>
            <a:ext cx="2560320" cy="2560320"/>
          </a:xfrm>
          <a:prstGeom prst="ellipse">
            <a:avLst/>
          </a:prstGeom>
          <a:solidFill>
            <a:srgbClr val="00BCD4">
              <a:alpha val="25000"/>
            </a:srgbClr>
          </a:solidFill>
          <a:ln/>
        </p:spPr>
      </p:sp>
      <p:sp>
        <p:nvSpPr>
          <p:cNvPr id="5" name="Text 3"/>
          <p:cNvSpPr/>
          <p:nvPr/>
        </p:nvSpPr>
        <p:spPr>
          <a:xfrm>
            <a:off x="457200" y="182880"/>
            <a:ext cx="64008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Conclusion &amp; Next Steps</a:t>
            </a:r>
            <a:endParaRPr lang="en-US" sz="2800" dirty="0"/>
          </a:p>
        </p:txBody>
      </p:sp>
      <p:sp>
        <p:nvSpPr>
          <p:cNvPr id="6" name="Text 4"/>
          <p:cNvSpPr/>
          <p:nvPr/>
        </p:nvSpPr>
        <p:spPr>
          <a:xfrm>
            <a:off x="457200" y="713232"/>
            <a:ext cx="6400800" cy="228600"/>
          </a:xfrm>
          <a:prstGeom prst="rect">
            <a:avLst/>
          </a:prstGeom>
          <a:noFill/>
          <a:ln/>
        </p:spPr>
        <p:txBody>
          <a:bodyPr wrap="square" lIns="0" tIns="0" rIns="0" bIns="0" rtlCol="0" anchor="ctr"/>
          <a:lstStyle/>
          <a:p>
            <a:pPr indent="0" marL="0">
              <a:buNone/>
            </a:pPr>
            <a:r>
              <a:rPr lang="en-US" sz="1000" i="1" dirty="0">
                <a:solidFill>
                  <a:srgbClr val="7B9DB4"/>
                </a:solidFill>
                <a:latin typeface="Calibri" pitchFamily="34" charset="0"/>
                <a:ea typeface="Calibri" pitchFamily="34" charset="-122"/>
                <a:cs typeface="Calibri" pitchFamily="34" charset="-120"/>
              </a:rPr>
              <a:t>Slide 12  |  Summary</a:t>
            </a:r>
            <a:endParaRPr lang="en-US" sz="1000" dirty="0"/>
          </a:p>
        </p:txBody>
      </p:sp>
      <p:sp>
        <p:nvSpPr>
          <p:cNvPr id="7" name="Shape 5"/>
          <p:cNvSpPr/>
          <p:nvPr/>
        </p:nvSpPr>
        <p:spPr>
          <a:xfrm>
            <a:off x="320040" y="1051560"/>
            <a:ext cx="5943600" cy="594360"/>
          </a:xfrm>
          <a:prstGeom prst="roundRect">
            <a:avLst>
              <a:gd name="adj" fmla="val 12308"/>
            </a:avLst>
          </a:prstGeom>
          <a:solidFill>
            <a:srgbClr val="1A2E4A"/>
          </a:solidFill>
          <a:ln/>
          <a:effectLst>
            <a:outerShdw sx="100000" sy="100000" kx="0" ky="0" algn="bl" rotWithShape="0" blurRad="101600" dist="38100" dir="2700000">
              <a:srgbClr val="000000">
                <a:alpha val="12000"/>
              </a:srgbClr>
            </a:outerShdw>
          </a:effectLst>
        </p:spPr>
      </p:sp>
      <p:sp>
        <p:nvSpPr>
          <p:cNvPr id="8" name="Shape 6"/>
          <p:cNvSpPr/>
          <p:nvPr/>
        </p:nvSpPr>
        <p:spPr>
          <a:xfrm>
            <a:off x="411480" y="1143000"/>
            <a:ext cx="411480" cy="411480"/>
          </a:xfrm>
          <a:prstGeom prst="ellipse">
            <a:avLst/>
          </a:prstGeom>
          <a:solidFill>
            <a:srgbClr val="00BCD4"/>
          </a:solidFill>
          <a:ln/>
        </p:spPr>
      </p:sp>
      <p:pic>
        <p:nvPicPr>
          <p:cNvPr id="9" name="Image 0" descr="preencoded.png">    </p:cNvPr>
          <p:cNvPicPr>
            <a:picLocks noChangeAspect="1"/>
          </p:cNvPicPr>
          <p:nvPr/>
        </p:nvPicPr>
        <p:blipFill>
          <a:blip r:embed="rId1"/>
          <a:stretch>
            <a:fillRect/>
          </a:stretch>
        </p:blipFill>
        <p:spPr>
          <a:xfrm>
            <a:off x="475488" y="1207008"/>
            <a:ext cx="283464" cy="283464"/>
          </a:xfrm>
          <a:prstGeom prst="rect">
            <a:avLst/>
          </a:prstGeom>
        </p:spPr>
      </p:pic>
      <p:sp>
        <p:nvSpPr>
          <p:cNvPr id="10" name="Text 7"/>
          <p:cNvSpPr/>
          <p:nvPr/>
        </p:nvSpPr>
        <p:spPr>
          <a:xfrm>
            <a:off x="914400" y="1143000"/>
            <a:ext cx="52120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LLMs are powerful — but their output quality is entirely dependent on prompt quality</a:t>
            </a:r>
            <a:endParaRPr lang="en-US" sz="1200" dirty="0"/>
          </a:p>
        </p:txBody>
      </p:sp>
      <p:sp>
        <p:nvSpPr>
          <p:cNvPr id="11" name="Shape 8"/>
          <p:cNvSpPr/>
          <p:nvPr/>
        </p:nvSpPr>
        <p:spPr>
          <a:xfrm>
            <a:off x="320040" y="1773936"/>
            <a:ext cx="5943600" cy="594360"/>
          </a:xfrm>
          <a:prstGeom prst="roundRect">
            <a:avLst>
              <a:gd name="adj" fmla="val 12308"/>
            </a:avLst>
          </a:prstGeom>
          <a:solidFill>
            <a:srgbClr val="1A2E4A"/>
          </a:solidFill>
          <a:ln/>
          <a:effectLst>
            <a:outerShdw sx="100000" sy="100000" kx="0" ky="0" algn="bl" rotWithShape="0" blurRad="101600" dist="38100" dir="2700000">
              <a:srgbClr val="000000">
                <a:alpha val="12000"/>
              </a:srgbClr>
            </a:outerShdw>
          </a:effectLst>
        </p:spPr>
      </p:sp>
      <p:sp>
        <p:nvSpPr>
          <p:cNvPr id="12" name="Shape 9"/>
          <p:cNvSpPr/>
          <p:nvPr/>
        </p:nvSpPr>
        <p:spPr>
          <a:xfrm>
            <a:off x="411480" y="1865376"/>
            <a:ext cx="411480" cy="411480"/>
          </a:xfrm>
          <a:prstGeom prst="ellipse">
            <a:avLst/>
          </a:prstGeom>
          <a:solidFill>
            <a:srgbClr val="00BCD4"/>
          </a:solidFill>
          <a:ln/>
        </p:spPr>
      </p:sp>
      <p:pic>
        <p:nvPicPr>
          <p:cNvPr id="13" name="Image 1" descr="preencoded.png">    </p:cNvPr>
          <p:cNvPicPr>
            <a:picLocks noChangeAspect="1"/>
          </p:cNvPicPr>
          <p:nvPr/>
        </p:nvPicPr>
        <p:blipFill>
          <a:blip r:embed="rId2"/>
          <a:stretch>
            <a:fillRect/>
          </a:stretch>
        </p:blipFill>
        <p:spPr>
          <a:xfrm>
            <a:off x="475488" y="1929384"/>
            <a:ext cx="283464" cy="283464"/>
          </a:xfrm>
          <a:prstGeom prst="rect">
            <a:avLst/>
          </a:prstGeom>
        </p:spPr>
      </p:pic>
      <p:sp>
        <p:nvSpPr>
          <p:cNvPr id="14" name="Text 10"/>
          <p:cNvSpPr/>
          <p:nvPr/>
        </p:nvSpPr>
        <p:spPr>
          <a:xfrm>
            <a:off x="914400" y="1865376"/>
            <a:ext cx="52120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Regular business prompts are vague, incomplete, and produce inconsistent results</a:t>
            </a:r>
            <a:endParaRPr lang="en-US" sz="1200" dirty="0"/>
          </a:p>
        </p:txBody>
      </p:sp>
      <p:sp>
        <p:nvSpPr>
          <p:cNvPr id="15" name="Shape 11"/>
          <p:cNvSpPr/>
          <p:nvPr/>
        </p:nvSpPr>
        <p:spPr>
          <a:xfrm>
            <a:off x="320040" y="2496312"/>
            <a:ext cx="5943600" cy="594360"/>
          </a:xfrm>
          <a:prstGeom prst="roundRect">
            <a:avLst>
              <a:gd name="adj" fmla="val 12308"/>
            </a:avLst>
          </a:prstGeom>
          <a:solidFill>
            <a:srgbClr val="1A2E4A"/>
          </a:solidFill>
          <a:ln/>
          <a:effectLst>
            <a:outerShdw sx="100000" sy="100000" kx="0" ky="0" algn="bl" rotWithShape="0" blurRad="101600" dist="38100" dir="2700000">
              <a:srgbClr val="000000">
                <a:alpha val="12000"/>
              </a:srgbClr>
            </a:outerShdw>
          </a:effectLst>
        </p:spPr>
      </p:sp>
      <p:sp>
        <p:nvSpPr>
          <p:cNvPr id="16" name="Shape 12"/>
          <p:cNvSpPr/>
          <p:nvPr/>
        </p:nvSpPr>
        <p:spPr>
          <a:xfrm>
            <a:off x="411480" y="2587752"/>
            <a:ext cx="411480" cy="411480"/>
          </a:xfrm>
          <a:prstGeom prst="ellipse">
            <a:avLst/>
          </a:prstGeom>
          <a:solidFill>
            <a:srgbClr val="00BCD4"/>
          </a:solidFill>
          <a:ln/>
        </p:spPr>
      </p:sp>
      <p:pic>
        <p:nvPicPr>
          <p:cNvPr id="17" name="Image 2" descr="preencoded.png">    </p:cNvPr>
          <p:cNvPicPr>
            <a:picLocks noChangeAspect="1"/>
          </p:cNvPicPr>
          <p:nvPr/>
        </p:nvPicPr>
        <p:blipFill>
          <a:blip r:embed="rId3"/>
          <a:stretch>
            <a:fillRect/>
          </a:stretch>
        </p:blipFill>
        <p:spPr>
          <a:xfrm>
            <a:off x="475488" y="2651760"/>
            <a:ext cx="283464" cy="283464"/>
          </a:xfrm>
          <a:prstGeom prst="rect">
            <a:avLst/>
          </a:prstGeom>
        </p:spPr>
      </p:pic>
      <p:sp>
        <p:nvSpPr>
          <p:cNvPr id="18" name="Text 13"/>
          <p:cNvSpPr/>
          <p:nvPr/>
        </p:nvSpPr>
        <p:spPr>
          <a:xfrm>
            <a:off x="914400" y="2587752"/>
            <a:ext cx="52120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Our Prompt Optimizer automatically rewrites prompts using NLP + LLM intelligence</a:t>
            </a:r>
            <a:endParaRPr lang="en-US" sz="1200" dirty="0"/>
          </a:p>
        </p:txBody>
      </p:sp>
      <p:sp>
        <p:nvSpPr>
          <p:cNvPr id="19" name="Shape 14"/>
          <p:cNvSpPr/>
          <p:nvPr/>
        </p:nvSpPr>
        <p:spPr>
          <a:xfrm>
            <a:off x="320040" y="3218688"/>
            <a:ext cx="5943600" cy="594360"/>
          </a:xfrm>
          <a:prstGeom prst="roundRect">
            <a:avLst>
              <a:gd name="adj" fmla="val 12308"/>
            </a:avLst>
          </a:prstGeom>
          <a:solidFill>
            <a:srgbClr val="1A2E4A"/>
          </a:solidFill>
          <a:ln/>
          <a:effectLst>
            <a:outerShdw sx="100000" sy="100000" kx="0" ky="0" algn="bl" rotWithShape="0" blurRad="101600" dist="38100" dir="2700000">
              <a:srgbClr val="000000">
                <a:alpha val="12000"/>
              </a:srgbClr>
            </a:outerShdw>
          </a:effectLst>
        </p:spPr>
      </p:sp>
      <p:sp>
        <p:nvSpPr>
          <p:cNvPr id="20" name="Shape 15"/>
          <p:cNvSpPr/>
          <p:nvPr/>
        </p:nvSpPr>
        <p:spPr>
          <a:xfrm>
            <a:off x="411480" y="3310128"/>
            <a:ext cx="411480" cy="411480"/>
          </a:xfrm>
          <a:prstGeom prst="ellipse">
            <a:avLst/>
          </a:prstGeom>
          <a:solidFill>
            <a:srgbClr val="00BCD4"/>
          </a:solidFill>
          <a:ln/>
        </p:spPr>
      </p:sp>
      <p:pic>
        <p:nvPicPr>
          <p:cNvPr id="21" name="Image 3" descr="preencoded.png">    </p:cNvPr>
          <p:cNvPicPr>
            <a:picLocks noChangeAspect="1"/>
          </p:cNvPicPr>
          <p:nvPr/>
        </p:nvPicPr>
        <p:blipFill>
          <a:blip r:embed="rId4"/>
          <a:stretch>
            <a:fillRect/>
          </a:stretch>
        </p:blipFill>
        <p:spPr>
          <a:xfrm>
            <a:off x="475488" y="3374136"/>
            <a:ext cx="283464" cy="283464"/>
          </a:xfrm>
          <a:prstGeom prst="rect">
            <a:avLst/>
          </a:prstGeom>
        </p:spPr>
      </p:pic>
      <p:sp>
        <p:nvSpPr>
          <p:cNvPr id="22" name="Text 16"/>
          <p:cNvSpPr/>
          <p:nvPr/>
        </p:nvSpPr>
        <p:spPr>
          <a:xfrm>
            <a:off x="914400" y="3310128"/>
            <a:ext cx="52120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5-layer architecture with gap detection, meta-prompt injection &amp; quality scoring</a:t>
            </a:r>
            <a:endParaRPr lang="en-US" sz="1200" dirty="0"/>
          </a:p>
        </p:txBody>
      </p:sp>
      <p:sp>
        <p:nvSpPr>
          <p:cNvPr id="23" name="Shape 17"/>
          <p:cNvSpPr/>
          <p:nvPr/>
        </p:nvSpPr>
        <p:spPr>
          <a:xfrm>
            <a:off x="320040" y="3941064"/>
            <a:ext cx="5943600" cy="594360"/>
          </a:xfrm>
          <a:prstGeom prst="roundRect">
            <a:avLst>
              <a:gd name="adj" fmla="val 12308"/>
            </a:avLst>
          </a:prstGeom>
          <a:solidFill>
            <a:srgbClr val="1A2E4A"/>
          </a:solidFill>
          <a:ln/>
          <a:effectLst>
            <a:outerShdw sx="100000" sy="100000" kx="0" ky="0" algn="bl" rotWithShape="0" blurRad="101600" dist="38100" dir="2700000">
              <a:srgbClr val="000000">
                <a:alpha val="12000"/>
              </a:srgbClr>
            </a:outerShdw>
          </a:effectLst>
        </p:spPr>
      </p:sp>
      <p:sp>
        <p:nvSpPr>
          <p:cNvPr id="24" name="Shape 18"/>
          <p:cNvSpPr/>
          <p:nvPr/>
        </p:nvSpPr>
        <p:spPr>
          <a:xfrm>
            <a:off x="411480" y="4032504"/>
            <a:ext cx="411480" cy="411480"/>
          </a:xfrm>
          <a:prstGeom prst="ellipse">
            <a:avLst/>
          </a:prstGeom>
          <a:solidFill>
            <a:srgbClr val="00BCD4"/>
          </a:solidFill>
          <a:ln/>
        </p:spPr>
      </p:sp>
      <p:pic>
        <p:nvPicPr>
          <p:cNvPr id="25" name="Image 4" descr="preencoded.png">    </p:cNvPr>
          <p:cNvPicPr>
            <a:picLocks noChangeAspect="1"/>
          </p:cNvPicPr>
          <p:nvPr/>
        </p:nvPicPr>
        <p:blipFill>
          <a:blip r:embed="rId5"/>
          <a:stretch>
            <a:fillRect/>
          </a:stretch>
        </p:blipFill>
        <p:spPr>
          <a:xfrm>
            <a:off x="475488" y="4096512"/>
            <a:ext cx="283464" cy="283464"/>
          </a:xfrm>
          <a:prstGeom prst="rect">
            <a:avLst/>
          </a:prstGeom>
        </p:spPr>
      </p:pic>
      <p:sp>
        <p:nvSpPr>
          <p:cNvPr id="26" name="Text 19"/>
          <p:cNvSpPr/>
          <p:nvPr/>
        </p:nvSpPr>
        <p:spPr>
          <a:xfrm>
            <a:off x="914400" y="4032504"/>
            <a:ext cx="52120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Expected 60–70% reduction in rework and measurable productivity gains for all teams</a:t>
            </a:r>
            <a:endParaRPr lang="en-US" sz="1200" dirty="0"/>
          </a:p>
        </p:txBody>
      </p:sp>
      <p:sp>
        <p:nvSpPr>
          <p:cNvPr id="27" name="Shape 20"/>
          <p:cNvSpPr/>
          <p:nvPr/>
        </p:nvSpPr>
        <p:spPr>
          <a:xfrm>
            <a:off x="320040" y="4663440"/>
            <a:ext cx="5943600" cy="384048"/>
          </a:xfrm>
          <a:prstGeom prst="roundRect">
            <a:avLst>
              <a:gd name="adj" fmla="val 19048"/>
            </a:avLst>
          </a:prstGeom>
          <a:solidFill>
            <a:srgbClr val="00BCD4">
              <a:alpha val="80000"/>
            </a:srgbClr>
          </a:solidFill>
          <a:ln/>
        </p:spPr>
      </p:sp>
      <p:sp>
        <p:nvSpPr>
          <p:cNvPr id="28" name="Text 21"/>
          <p:cNvSpPr/>
          <p:nvPr/>
        </p:nvSpPr>
        <p:spPr>
          <a:xfrm>
            <a:off x="457200" y="4681728"/>
            <a:ext cx="5669280" cy="3383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Next Step: Approve Phase 1 to begin research &amp; design — target pilot ready in 8 weeks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LLM-Based Prompt Optimization</dc:title>
  <dc:subject>PptxGenJS Presentation</dc:subject>
  <dc:creator>PptxGenJS</dc:creator>
  <cp:lastModifiedBy>PptxGenJS</cp:lastModifiedBy>
  <cp:revision>1</cp:revision>
  <dcterms:created xsi:type="dcterms:W3CDTF">2026-06-12T06:59:01Z</dcterms:created>
  <dcterms:modified xsi:type="dcterms:W3CDTF">2026-06-12T06:59:01Z</dcterms:modified>
</cp:coreProperties>
</file>